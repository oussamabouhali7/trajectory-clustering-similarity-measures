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Comfortaa" panose="020B0604020202020204" charset="0"/>
      <p:regular r:id="rId34"/>
      <p:bold r:id="rId35"/>
    </p:embeddedFont>
    <p:embeddedFont>
      <p:font typeface="Comic Sans MS" panose="030F0702030302020204" pitchFamily="66" charset="0"/>
      <p:regular r:id="rId36"/>
      <p:bold r:id="rId37"/>
      <p:italic r:id="rId38"/>
      <p:boldItalic r:id="rId39"/>
    </p:embeddedFont>
    <p:embeddedFont>
      <p:font typeface="Forum" panose="020B0604020202020204" charset="0"/>
      <p:regular r:id="rId40"/>
    </p:embeddedFont>
    <p:embeddedFont>
      <p:font typeface="Maven Pro" panose="020B0604020202020204" charset="0"/>
      <p:regular r:id="rId41"/>
      <p:bold r:id="rId42"/>
    </p:embeddedFont>
    <p:embeddedFont>
      <p:font typeface="Nunito" panose="020F0502020204030204" pitchFamily="2" charset="0"/>
      <p:regular r:id="rId43"/>
      <p:bold r:id="rId44"/>
      <p:italic r:id="rId45"/>
      <p:boldItalic r:id="rId46"/>
    </p:embeddedFont>
    <p:embeddedFont>
      <p:font typeface="Roboto" panose="02000000000000000000" pitchFamily="2" charset="0"/>
      <p:italic r:id="rId47"/>
    </p:embeddedFont>
    <p:embeddedFont>
      <p:font typeface="Share Tech" panose="020B0604020202020204" charset="0"/>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1205"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8e5d4491d6_3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g28e5d4491d6_3_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8e5d4491d6_3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28e5d4491d6_3_3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8e5d4491d6_3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g28e5d4491d6_3_9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8e5d4491d6_3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g28e5d4491d6_3_1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8e5d4491d6_5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g28e5d4491d6_5_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8e5d4491d6_5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le clustering de trajectoire a pour objectif de détecter</a:t>
            </a:r>
            <a:endParaRPr/>
          </a:p>
        </p:txBody>
      </p:sp>
      <p:sp>
        <p:nvSpPr>
          <p:cNvPr id="358" name="Google Shape;358;g28e5d4491d6_5_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8e5d4491d6_5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elle sert de regrouper </a:t>
            </a:r>
            <a:endParaRPr/>
          </a:p>
        </p:txBody>
      </p:sp>
      <p:sp>
        <p:nvSpPr>
          <p:cNvPr id="366" name="Google Shape;366;g28e5d4491d6_5_10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8e5d4491d6_5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parmi les critères de regroupement </a:t>
            </a:r>
            <a:endParaRPr/>
          </a:p>
        </p:txBody>
      </p:sp>
      <p:sp>
        <p:nvSpPr>
          <p:cNvPr id="377" name="Google Shape;377;g28e5d4491d6_5_8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8e5d4491d6_5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228600" algn="l" rtl="0">
              <a:lnSpc>
                <a:spcPct val="115000"/>
              </a:lnSpc>
              <a:spcBef>
                <a:spcPts val="1200"/>
              </a:spcBef>
              <a:spcAft>
                <a:spcPts val="0"/>
              </a:spcAft>
              <a:buClr>
                <a:schemeClr val="dk1"/>
              </a:buClr>
              <a:buSzPts val="1100"/>
              <a:buFont typeface="Arial"/>
              <a:buNone/>
            </a:pPr>
            <a:r>
              <a:rPr lang="fr" sz="1200">
                <a:solidFill>
                  <a:schemeClr val="dk1"/>
                </a:solidFill>
              </a:rPr>
              <a:t>       nous nous concentrons sur l'algorithme DBSCAN (density-based spatial clustering of applications with noise) qui est l’un  des  algorithmes de clustering des trajectoires  basé sur mesure de similarité </a:t>
            </a:r>
            <a:endParaRPr sz="1200">
              <a:solidFill>
                <a:schemeClr val="dk1"/>
              </a:solidFill>
            </a:endParaRPr>
          </a:p>
          <a:p>
            <a:pPr marL="0" lvl="0" indent="-228600" algn="l" rtl="0">
              <a:lnSpc>
                <a:spcPct val="115000"/>
              </a:lnSpc>
              <a:spcBef>
                <a:spcPts val="1200"/>
              </a:spcBef>
              <a:spcAft>
                <a:spcPts val="0"/>
              </a:spcAft>
              <a:buClr>
                <a:schemeClr val="dk1"/>
              </a:buClr>
              <a:buSzPts val="1100"/>
              <a:buFont typeface="Arial"/>
              <a:buNone/>
            </a:pPr>
            <a:r>
              <a:rPr lang="fr" sz="1200">
                <a:solidFill>
                  <a:schemeClr val="dk1"/>
                </a:solidFill>
              </a:rPr>
              <a:t>  </a:t>
            </a:r>
            <a:endParaRPr sz="1200">
              <a:solidFill>
                <a:schemeClr val="dk1"/>
              </a:solidFill>
            </a:endParaRPr>
          </a:p>
          <a:p>
            <a:pPr marL="0" lvl="0" indent="0" algn="l" rtl="0">
              <a:spcBef>
                <a:spcPts val="1200"/>
              </a:spcBef>
              <a:spcAft>
                <a:spcPts val="0"/>
              </a:spcAft>
              <a:buNone/>
            </a:pPr>
            <a:endParaRPr/>
          </a:p>
        </p:txBody>
      </p:sp>
      <p:sp>
        <p:nvSpPr>
          <p:cNvPr id="384" name="Google Shape;384;g28e5d4491d6_5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a3e749698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228600" algn="l" rtl="0">
              <a:lnSpc>
                <a:spcPct val="115000"/>
              </a:lnSpc>
              <a:spcBef>
                <a:spcPts val="1200"/>
              </a:spcBef>
              <a:spcAft>
                <a:spcPts val="0"/>
              </a:spcAft>
              <a:buNone/>
            </a:pPr>
            <a:r>
              <a:rPr lang="fr" sz="1200">
                <a:solidFill>
                  <a:schemeClr val="dk1"/>
                </a:solidFill>
              </a:rPr>
              <a:t>    la </a:t>
            </a:r>
            <a:r>
              <a:rPr lang="fr" sz="1200"/>
              <a:t>figure montre un Exemple de résultats obtenus par application de DBSCAN à des données spatiales</a:t>
            </a:r>
            <a:endParaRPr sz="1200"/>
          </a:p>
          <a:p>
            <a:pPr marL="0" lvl="0" indent="-228600" algn="l" rtl="0">
              <a:lnSpc>
                <a:spcPct val="115000"/>
              </a:lnSpc>
              <a:spcBef>
                <a:spcPts val="1200"/>
              </a:spcBef>
              <a:spcAft>
                <a:spcPts val="0"/>
              </a:spcAft>
              <a:buNone/>
            </a:pPr>
            <a:endParaRPr sz="1200">
              <a:solidFill>
                <a:srgbClr val="202124"/>
              </a:solidFill>
            </a:endParaRPr>
          </a:p>
          <a:p>
            <a:pPr marL="0" lvl="0" indent="-228600" algn="l" rtl="0">
              <a:lnSpc>
                <a:spcPct val="115000"/>
              </a:lnSpc>
              <a:spcBef>
                <a:spcPts val="1200"/>
              </a:spcBef>
              <a:spcAft>
                <a:spcPts val="0"/>
              </a:spcAft>
              <a:buNone/>
            </a:pPr>
            <a:endParaRPr sz="1200">
              <a:solidFill>
                <a:srgbClr val="202124"/>
              </a:solidFill>
            </a:endParaRPr>
          </a:p>
          <a:p>
            <a:pPr marL="0" lvl="0" indent="-228600" algn="l" rtl="0">
              <a:lnSpc>
                <a:spcPct val="115000"/>
              </a:lnSpc>
              <a:spcBef>
                <a:spcPts val="1200"/>
              </a:spcBef>
              <a:spcAft>
                <a:spcPts val="1200"/>
              </a:spcAft>
              <a:buNone/>
            </a:pPr>
            <a:endParaRPr sz="1200"/>
          </a:p>
        </p:txBody>
      </p:sp>
      <p:sp>
        <p:nvSpPr>
          <p:cNvPr id="396" name="Google Shape;396;g2a3e7496988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a57e7018f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228600" algn="l" rtl="0">
              <a:lnSpc>
                <a:spcPct val="115000"/>
              </a:lnSpc>
              <a:spcBef>
                <a:spcPts val="1200"/>
              </a:spcBef>
              <a:spcAft>
                <a:spcPts val="1200"/>
              </a:spcAft>
              <a:buNone/>
            </a:pPr>
            <a:endParaRPr sz="1200"/>
          </a:p>
        </p:txBody>
      </p:sp>
      <p:sp>
        <p:nvSpPr>
          <p:cNvPr id="406" name="Google Shape;406;g2a57e7018f8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a57e701d8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le dbscan nécessite une matrice de similarité pour sa fonctionnemnt </a:t>
            </a:r>
            <a:endParaRPr/>
          </a:p>
        </p:txBody>
      </p:sp>
      <p:sp>
        <p:nvSpPr>
          <p:cNvPr id="414" name="Google Shape;414;g2a57e701d8b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a57e701d8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228600" algn="l" rtl="0">
              <a:lnSpc>
                <a:spcPct val="115000"/>
              </a:lnSpc>
              <a:spcBef>
                <a:spcPts val="1200"/>
              </a:spcBef>
              <a:spcAft>
                <a:spcPts val="1200"/>
              </a:spcAft>
              <a:buNone/>
            </a:pPr>
            <a:endParaRPr sz="1200"/>
          </a:p>
        </p:txBody>
      </p:sp>
      <p:sp>
        <p:nvSpPr>
          <p:cNvPr id="421" name="Google Shape;421;g2a57e701d8b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a57e701d8b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228600" algn="l" rtl="0">
              <a:lnSpc>
                <a:spcPct val="115000"/>
              </a:lnSpc>
              <a:spcBef>
                <a:spcPts val="1200"/>
              </a:spcBef>
              <a:spcAft>
                <a:spcPts val="1200"/>
              </a:spcAft>
              <a:buNone/>
            </a:pPr>
            <a:endParaRPr sz="1200"/>
          </a:p>
        </p:txBody>
      </p:sp>
      <p:sp>
        <p:nvSpPr>
          <p:cNvPr id="429" name="Google Shape;429;g2a57e701d8b_0_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a57e701d8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228600" algn="l" rtl="0">
              <a:lnSpc>
                <a:spcPct val="115000"/>
              </a:lnSpc>
              <a:spcBef>
                <a:spcPts val="1200"/>
              </a:spcBef>
              <a:spcAft>
                <a:spcPts val="1200"/>
              </a:spcAft>
              <a:buNone/>
            </a:pPr>
            <a:endParaRPr sz="1200"/>
          </a:p>
        </p:txBody>
      </p:sp>
      <p:sp>
        <p:nvSpPr>
          <p:cNvPr id="437" name="Google Shape;437;g2a57e701d8b_0_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8e5d4491d6_5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fr" sz="1200">
                <a:solidFill>
                  <a:schemeClr val="dk1"/>
                </a:solidFill>
                <a:latin typeface="Calibri"/>
                <a:ea typeface="Calibri"/>
                <a:cs typeface="Calibri"/>
                <a:sym typeface="Calibri"/>
              </a:rPr>
              <a:t>Il est temps d’entamer la partie</a:t>
            </a:r>
            <a:endParaRPr/>
          </a:p>
        </p:txBody>
      </p:sp>
      <p:sp>
        <p:nvSpPr>
          <p:cNvPr id="445" name="Google Shape;445;g28e5d4491d6_5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a55bde4304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fr" sz="1200" b="1">
                <a:latin typeface="Comfortaa"/>
                <a:ea typeface="Comfortaa"/>
                <a:cs typeface="Comfortaa"/>
                <a:sym typeface="Comfortaa"/>
              </a:rPr>
              <a:t>La mesure de la similarité est l'un des éléments clés du clustering de trajectoires similaires pour  l'algorithme DBSCAN .</a:t>
            </a:r>
            <a:endParaRPr sz="1200" b="1">
              <a:latin typeface="Comfortaa"/>
              <a:ea typeface="Comfortaa"/>
              <a:cs typeface="Comfortaa"/>
              <a:sym typeface="Comfortaa"/>
            </a:endParaRPr>
          </a:p>
          <a:p>
            <a:pPr marL="0" lvl="0" indent="0" algn="l" rtl="0">
              <a:lnSpc>
                <a:spcPct val="115000"/>
              </a:lnSpc>
              <a:spcBef>
                <a:spcPts val="1200"/>
              </a:spcBef>
              <a:spcAft>
                <a:spcPts val="1200"/>
              </a:spcAft>
              <a:buClr>
                <a:schemeClr val="dk1"/>
              </a:buClr>
              <a:buSzPts val="1100"/>
              <a:buFont typeface="Arial"/>
              <a:buNone/>
            </a:pPr>
            <a:r>
              <a:rPr lang="fr" sz="1500" b="1">
                <a:latin typeface="Comfortaa"/>
                <a:ea typeface="Comfortaa"/>
                <a:cs typeface="Comfortaa"/>
                <a:sym typeface="Comfortaa"/>
              </a:rPr>
              <a:t>il existe plusieures mesures de similarité:</a:t>
            </a:r>
            <a:endParaRPr sz="1200" b="1">
              <a:latin typeface="Comfortaa"/>
              <a:ea typeface="Comfortaa"/>
              <a:cs typeface="Comfortaa"/>
              <a:sym typeface="Comfortaa"/>
            </a:endParaRPr>
          </a:p>
        </p:txBody>
      </p:sp>
      <p:sp>
        <p:nvSpPr>
          <p:cNvPr id="457" name="Google Shape;457;g2a55bde4304_1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a57e701d8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endParaRPr sz="1200">
              <a:latin typeface="Times New Roman"/>
              <a:ea typeface="Times New Roman"/>
              <a:cs typeface="Times New Roman"/>
              <a:sym typeface="Times New Roman"/>
            </a:endParaRPr>
          </a:p>
        </p:txBody>
      </p:sp>
      <p:sp>
        <p:nvSpPr>
          <p:cNvPr id="477" name="Google Shape;477;g2a57e701d8b_0_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2a55bde4304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endParaRPr sz="1200">
              <a:latin typeface="Times New Roman"/>
              <a:ea typeface="Times New Roman"/>
              <a:cs typeface="Times New Roman"/>
              <a:sym typeface="Times New Roman"/>
            </a:endParaRPr>
          </a:p>
        </p:txBody>
      </p:sp>
      <p:sp>
        <p:nvSpPr>
          <p:cNvPr id="497" name="Google Shape;497;g2a55bde4304_1_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2a3fd68947b_2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5275" algn="l" rtl="0">
              <a:lnSpc>
                <a:spcPct val="115000"/>
              </a:lnSpc>
              <a:spcBef>
                <a:spcPts val="900"/>
              </a:spcBef>
              <a:spcAft>
                <a:spcPts val="0"/>
              </a:spcAft>
              <a:buClr>
                <a:srgbClr val="111111"/>
              </a:buClr>
              <a:buSzPts val="1050"/>
              <a:buFont typeface="Roboto"/>
              <a:buChar char="●"/>
            </a:pPr>
            <a:endParaRPr b="1"/>
          </a:p>
        </p:txBody>
      </p:sp>
      <p:sp>
        <p:nvSpPr>
          <p:cNvPr id="511" name="Google Shape;511;g2a3fd68947b_2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a3fd68947b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500">
              <a:solidFill>
                <a:srgbClr val="040C28"/>
              </a:solidFill>
            </a:endParaRPr>
          </a:p>
        </p:txBody>
      </p:sp>
      <p:sp>
        <p:nvSpPr>
          <p:cNvPr id="521" name="Google Shape;521;g2a3fd68947b_2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2a3fd68947b_2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1" name="Google Shape;531;g2a3fd68947b_2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a55bde4304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0" name="Google Shape;540;g2a55bde4304_1_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a55bde4304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0" name="Google Shape;550;g2a55bde4304_1_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2a55bde4304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71600" lvl="0" indent="-323850" algn="l" rtl="0">
              <a:lnSpc>
                <a:spcPct val="115000"/>
              </a:lnSpc>
              <a:spcBef>
                <a:spcPts val="1200"/>
              </a:spcBef>
              <a:spcAft>
                <a:spcPts val="0"/>
              </a:spcAft>
              <a:buClr>
                <a:schemeClr val="dk1"/>
              </a:buClr>
              <a:buSzPts val="1500"/>
              <a:buFont typeface="Times New Roman"/>
              <a:buChar char="❖"/>
            </a:pPr>
            <a:r>
              <a:rPr lang="fr" sz="1500">
                <a:solidFill>
                  <a:schemeClr val="dk1"/>
                </a:solidFill>
                <a:latin typeface="Times New Roman"/>
                <a:ea typeface="Times New Roman"/>
                <a:cs typeface="Times New Roman"/>
                <a:sym typeface="Times New Roman"/>
              </a:rPr>
              <a:t>Les deux trajectoires doivent avoir la même longueur (c.à-d. le même nombre de points) </a:t>
            </a:r>
            <a:endParaRPr sz="1500">
              <a:solidFill>
                <a:schemeClr val="dk1"/>
              </a:solidFill>
              <a:latin typeface="Times New Roman"/>
              <a:ea typeface="Times New Roman"/>
              <a:cs typeface="Times New Roman"/>
              <a:sym typeface="Times New Roman"/>
            </a:endParaRPr>
          </a:p>
          <a:p>
            <a:pPr marL="1371600" lvl="0" indent="-323850" algn="l" rtl="0">
              <a:lnSpc>
                <a:spcPct val="115000"/>
              </a:lnSpc>
              <a:spcBef>
                <a:spcPts val="0"/>
              </a:spcBef>
              <a:spcAft>
                <a:spcPts val="0"/>
              </a:spcAft>
              <a:buClr>
                <a:schemeClr val="dk1"/>
              </a:buClr>
              <a:buSzPts val="1500"/>
              <a:buFont typeface="Times New Roman"/>
              <a:buChar char="❖"/>
            </a:pPr>
            <a:r>
              <a:rPr lang="fr" sz="1500">
                <a:solidFill>
                  <a:schemeClr val="dk1"/>
                </a:solidFill>
                <a:latin typeface="Times New Roman"/>
                <a:ea typeface="Times New Roman"/>
                <a:cs typeface="Times New Roman"/>
                <a:sym typeface="Times New Roman"/>
              </a:rPr>
              <a:t>Pas de gestion de la distorsion du temps </a:t>
            </a:r>
            <a:endParaRPr sz="1500">
              <a:solidFill>
                <a:schemeClr val="dk1"/>
              </a:solidFill>
              <a:latin typeface="Times New Roman"/>
              <a:ea typeface="Times New Roman"/>
              <a:cs typeface="Times New Roman"/>
              <a:sym typeface="Times New Roman"/>
            </a:endParaRPr>
          </a:p>
          <a:p>
            <a:pPr marL="1371600" lvl="0" indent="-323850" algn="l" rtl="0">
              <a:lnSpc>
                <a:spcPct val="115000"/>
              </a:lnSpc>
              <a:spcBef>
                <a:spcPts val="0"/>
              </a:spcBef>
              <a:spcAft>
                <a:spcPts val="0"/>
              </a:spcAft>
              <a:buClr>
                <a:schemeClr val="dk1"/>
              </a:buClr>
              <a:buSzPts val="1500"/>
              <a:buFont typeface="Times New Roman"/>
              <a:buChar char="❖"/>
            </a:pPr>
            <a:r>
              <a:rPr lang="fr" sz="1500">
                <a:solidFill>
                  <a:schemeClr val="dk1"/>
                </a:solidFill>
                <a:latin typeface="Times New Roman"/>
                <a:ea typeface="Times New Roman"/>
                <a:cs typeface="Times New Roman"/>
                <a:sym typeface="Times New Roman"/>
              </a:rPr>
              <a:t> Très sensible au bruit. </a:t>
            </a:r>
            <a:endParaRPr>
              <a:solidFill>
                <a:schemeClr val="dk1"/>
              </a:solidFill>
            </a:endParaRPr>
          </a:p>
        </p:txBody>
      </p:sp>
      <p:sp>
        <p:nvSpPr>
          <p:cNvPr id="560" name="Google Shape;560;g2a55bde4304_1_9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28e5d4491d6_5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solidFill>
                  <a:schemeClr val="dk1"/>
                </a:solidFill>
                <a:latin typeface="Calibri"/>
                <a:ea typeface="Calibri"/>
                <a:cs typeface="Calibri"/>
                <a:sym typeface="Calibri"/>
              </a:rPr>
              <a:t>La principale contribution de cette étude de cas  est une étude comparative de l'impact de différentes mesures de similarité sur le sur le clustering  de trajectoires similaires  à l'aide de l'algorithme DBSCAN pour un ensemble de données  de  trajectoires des taxis </a:t>
            </a:r>
            <a:endParaRPr/>
          </a:p>
        </p:txBody>
      </p:sp>
      <p:sp>
        <p:nvSpPr>
          <p:cNvPr id="570" name="Google Shape;570;g28e5d4491d6_5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a55bde4304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2" name="Google Shape;582;g2a55bde4304_1_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2a55bde4304_1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1" name="Google Shape;591;g2a55bde4304_1_9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8e5d4491d6_5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g28e5d4491d6_5_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a57e701d8b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2" name="Google Shape;612;g2a57e701d8b_0_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28e5d4491d6_3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1" name="Google Shape;621;g28e5d4491d6_3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rtl="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8000"/>
              <a:buNone/>
              <a:defRPr sz="8000">
                <a:solidFill>
                  <a:schemeClr val="lt1"/>
                </a:solidFill>
              </a:defRPr>
            </a:lvl1pPr>
            <a:lvl2pPr lvl="1" algn="ctr" rtl="0">
              <a:spcBef>
                <a:spcPts val="0"/>
              </a:spcBef>
              <a:spcAft>
                <a:spcPts val="0"/>
              </a:spcAft>
              <a:buClr>
                <a:schemeClr val="lt1"/>
              </a:buClr>
              <a:buSzPts val="8000"/>
              <a:buNone/>
              <a:defRPr sz="8000">
                <a:solidFill>
                  <a:schemeClr val="lt1"/>
                </a:solidFill>
              </a:defRPr>
            </a:lvl2pPr>
            <a:lvl3pPr lvl="2" algn="ctr" rtl="0">
              <a:spcBef>
                <a:spcPts val="0"/>
              </a:spcBef>
              <a:spcAft>
                <a:spcPts val="0"/>
              </a:spcAft>
              <a:buClr>
                <a:schemeClr val="lt1"/>
              </a:buClr>
              <a:buSzPts val="8000"/>
              <a:buNone/>
              <a:defRPr sz="8000">
                <a:solidFill>
                  <a:schemeClr val="lt1"/>
                </a:solidFill>
              </a:defRPr>
            </a:lvl3pPr>
            <a:lvl4pPr lvl="3" algn="ctr" rtl="0">
              <a:spcBef>
                <a:spcPts val="0"/>
              </a:spcBef>
              <a:spcAft>
                <a:spcPts val="0"/>
              </a:spcAft>
              <a:buClr>
                <a:schemeClr val="lt1"/>
              </a:buClr>
              <a:buSzPts val="8000"/>
              <a:buNone/>
              <a:defRPr sz="8000">
                <a:solidFill>
                  <a:schemeClr val="lt1"/>
                </a:solidFill>
              </a:defRPr>
            </a:lvl4pPr>
            <a:lvl5pPr lvl="4" algn="ctr" rtl="0">
              <a:spcBef>
                <a:spcPts val="0"/>
              </a:spcBef>
              <a:spcAft>
                <a:spcPts val="0"/>
              </a:spcAft>
              <a:buClr>
                <a:schemeClr val="lt1"/>
              </a:buClr>
              <a:buSzPts val="8000"/>
              <a:buNone/>
              <a:defRPr sz="8000">
                <a:solidFill>
                  <a:schemeClr val="lt1"/>
                </a:solidFill>
              </a:defRPr>
            </a:lvl5pPr>
            <a:lvl6pPr lvl="5" algn="ctr" rtl="0">
              <a:spcBef>
                <a:spcPts val="0"/>
              </a:spcBef>
              <a:spcAft>
                <a:spcPts val="0"/>
              </a:spcAft>
              <a:buClr>
                <a:schemeClr val="lt1"/>
              </a:buClr>
              <a:buSzPts val="8000"/>
              <a:buNone/>
              <a:defRPr sz="8000">
                <a:solidFill>
                  <a:schemeClr val="lt1"/>
                </a:solidFill>
              </a:defRPr>
            </a:lvl6pPr>
            <a:lvl7pPr lvl="6" algn="ctr" rtl="0">
              <a:spcBef>
                <a:spcPts val="0"/>
              </a:spcBef>
              <a:spcAft>
                <a:spcPts val="0"/>
              </a:spcAft>
              <a:buClr>
                <a:schemeClr val="lt1"/>
              </a:buClr>
              <a:buSzPts val="8000"/>
              <a:buNone/>
              <a:defRPr sz="8000">
                <a:solidFill>
                  <a:schemeClr val="lt1"/>
                </a:solidFill>
              </a:defRPr>
            </a:lvl7pPr>
            <a:lvl8pPr lvl="7" algn="ctr" rtl="0">
              <a:spcBef>
                <a:spcPts val="0"/>
              </a:spcBef>
              <a:spcAft>
                <a:spcPts val="0"/>
              </a:spcAft>
              <a:buClr>
                <a:schemeClr val="lt1"/>
              </a:buClr>
              <a:buSzPts val="8000"/>
              <a:buNone/>
              <a:defRPr sz="8000">
                <a:solidFill>
                  <a:schemeClr val="lt1"/>
                </a:solidFill>
              </a:defRPr>
            </a:lvl8pPr>
            <a:lvl9pPr lvl="8" algn="ctr" rtl="0">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rtl="0">
              <a:spcBef>
                <a:spcPts val="0"/>
              </a:spcBef>
              <a:spcAft>
                <a:spcPts val="0"/>
              </a:spcAft>
              <a:buClr>
                <a:schemeClr val="lt1"/>
              </a:buClr>
              <a:buSzPts val="1300"/>
              <a:buChar char="●"/>
              <a:defRPr>
                <a:solidFill>
                  <a:schemeClr val="lt1"/>
                </a:solidFill>
              </a:defRPr>
            </a:lvl1pPr>
            <a:lvl2pPr marL="914400" lvl="1" indent="-298450" algn="ctr" rtl="0">
              <a:spcBef>
                <a:spcPts val="0"/>
              </a:spcBef>
              <a:spcAft>
                <a:spcPts val="0"/>
              </a:spcAft>
              <a:buClr>
                <a:schemeClr val="lt1"/>
              </a:buClr>
              <a:buSzPts val="1100"/>
              <a:buChar char="○"/>
              <a:defRPr>
                <a:solidFill>
                  <a:schemeClr val="lt1"/>
                </a:solidFill>
              </a:defRPr>
            </a:lvl2pPr>
            <a:lvl3pPr marL="1371600" lvl="2" indent="-298450" algn="ctr" rtl="0">
              <a:spcBef>
                <a:spcPts val="0"/>
              </a:spcBef>
              <a:spcAft>
                <a:spcPts val="0"/>
              </a:spcAft>
              <a:buClr>
                <a:schemeClr val="lt1"/>
              </a:buClr>
              <a:buSzPts val="1100"/>
              <a:buChar char="■"/>
              <a:defRPr>
                <a:solidFill>
                  <a:schemeClr val="lt1"/>
                </a:solidFill>
              </a:defRPr>
            </a:lvl3pPr>
            <a:lvl4pPr marL="1828800" lvl="3" indent="-298450" algn="ctr" rtl="0">
              <a:spcBef>
                <a:spcPts val="0"/>
              </a:spcBef>
              <a:spcAft>
                <a:spcPts val="0"/>
              </a:spcAft>
              <a:buClr>
                <a:schemeClr val="lt1"/>
              </a:buClr>
              <a:buSzPts val="1100"/>
              <a:buChar char="●"/>
              <a:defRPr>
                <a:solidFill>
                  <a:schemeClr val="lt1"/>
                </a:solidFill>
              </a:defRPr>
            </a:lvl4pPr>
            <a:lvl5pPr marL="2286000" lvl="4" indent="-298450" algn="ctr" rtl="0">
              <a:spcBef>
                <a:spcPts val="0"/>
              </a:spcBef>
              <a:spcAft>
                <a:spcPts val="0"/>
              </a:spcAft>
              <a:buClr>
                <a:schemeClr val="lt1"/>
              </a:buClr>
              <a:buSzPts val="1100"/>
              <a:buChar char="○"/>
              <a:defRPr>
                <a:solidFill>
                  <a:schemeClr val="lt1"/>
                </a:solidFill>
              </a:defRPr>
            </a:lvl5pPr>
            <a:lvl6pPr marL="2743200" lvl="5" indent="-298450" algn="ctr" rtl="0">
              <a:spcBef>
                <a:spcPts val="0"/>
              </a:spcBef>
              <a:spcAft>
                <a:spcPts val="0"/>
              </a:spcAft>
              <a:buClr>
                <a:schemeClr val="lt1"/>
              </a:buClr>
              <a:buSzPts val="1100"/>
              <a:buChar char="■"/>
              <a:defRPr>
                <a:solidFill>
                  <a:schemeClr val="lt1"/>
                </a:solidFill>
              </a:defRPr>
            </a:lvl6pPr>
            <a:lvl7pPr marL="3200400" lvl="6" indent="-298450" algn="ctr" rtl="0">
              <a:spcBef>
                <a:spcPts val="0"/>
              </a:spcBef>
              <a:spcAft>
                <a:spcPts val="0"/>
              </a:spcAft>
              <a:buClr>
                <a:schemeClr val="lt1"/>
              </a:buClr>
              <a:buSzPts val="1100"/>
              <a:buChar char="●"/>
              <a:defRPr>
                <a:solidFill>
                  <a:schemeClr val="lt1"/>
                </a:solidFill>
              </a:defRPr>
            </a:lvl7pPr>
            <a:lvl8pPr marL="3657600" lvl="7" indent="-298450" algn="ctr" rtl="0">
              <a:spcBef>
                <a:spcPts val="0"/>
              </a:spcBef>
              <a:spcAft>
                <a:spcPts val="0"/>
              </a:spcAft>
              <a:buClr>
                <a:schemeClr val="lt1"/>
              </a:buClr>
              <a:buSzPts val="1100"/>
              <a:buChar char="○"/>
              <a:defRPr>
                <a:solidFill>
                  <a:schemeClr val="lt1"/>
                </a:solidFill>
              </a:defRPr>
            </a:lvl8pPr>
            <a:lvl9pPr marL="4114800" lvl="8" indent="-298450" algn="ctr" rtl="0">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rtl="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rtl="0">
              <a:buNone/>
              <a:defRPr sz="900">
                <a:solidFill>
                  <a:schemeClr val="dk2"/>
                </a:solidFill>
                <a:latin typeface="Nunito"/>
                <a:ea typeface="Nunito"/>
                <a:cs typeface="Nunito"/>
                <a:sym typeface="Nunito"/>
              </a:defRPr>
            </a:lvl1pPr>
            <a:lvl2pPr lvl="1" algn="r" rtl="0">
              <a:buNone/>
              <a:defRPr sz="900">
                <a:solidFill>
                  <a:schemeClr val="dk2"/>
                </a:solidFill>
                <a:latin typeface="Nunito"/>
                <a:ea typeface="Nunito"/>
                <a:cs typeface="Nunito"/>
                <a:sym typeface="Nunito"/>
              </a:defRPr>
            </a:lvl2pPr>
            <a:lvl3pPr lvl="2" algn="r" rtl="0">
              <a:buNone/>
              <a:defRPr sz="900">
                <a:solidFill>
                  <a:schemeClr val="dk2"/>
                </a:solidFill>
                <a:latin typeface="Nunito"/>
                <a:ea typeface="Nunito"/>
                <a:cs typeface="Nunito"/>
                <a:sym typeface="Nunito"/>
              </a:defRPr>
            </a:lvl3pPr>
            <a:lvl4pPr lvl="3" algn="r" rtl="0">
              <a:buNone/>
              <a:defRPr sz="900">
                <a:solidFill>
                  <a:schemeClr val="dk2"/>
                </a:solidFill>
                <a:latin typeface="Nunito"/>
                <a:ea typeface="Nunito"/>
                <a:cs typeface="Nunito"/>
                <a:sym typeface="Nunito"/>
              </a:defRPr>
            </a:lvl4pPr>
            <a:lvl5pPr lvl="4" algn="r" rtl="0">
              <a:buNone/>
              <a:defRPr sz="900">
                <a:solidFill>
                  <a:schemeClr val="dk2"/>
                </a:solidFill>
                <a:latin typeface="Nunito"/>
                <a:ea typeface="Nunito"/>
                <a:cs typeface="Nunito"/>
                <a:sym typeface="Nunito"/>
              </a:defRPr>
            </a:lvl5pPr>
            <a:lvl6pPr lvl="5" algn="r" rtl="0">
              <a:buNone/>
              <a:defRPr sz="900">
                <a:solidFill>
                  <a:schemeClr val="dk2"/>
                </a:solidFill>
                <a:latin typeface="Nunito"/>
                <a:ea typeface="Nunito"/>
                <a:cs typeface="Nunito"/>
                <a:sym typeface="Nunito"/>
              </a:defRPr>
            </a:lvl6pPr>
            <a:lvl7pPr lvl="6" algn="r" rtl="0">
              <a:buNone/>
              <a:defRPr sz="900">
                <a:solidFill>
                  <a:schemeClr val="dk2"/>
                </a:solidFill>
                <a:latin typeface="Nunito"/>
                <a:ea typeface="Nunito"/>
                <a:cs typeface="Nunito"/>
                <a:sym typeface="Nunito"/>
              </a:defRPr>
            </a:lvl7pPr>
            <a:lvl8pPr lvl="7" algn="r" rtl="0">
              <a:buNone/>
              <a:defRPr sz="900">
                <a:solidFill>
                  <a:schemeClr val="dk2"/>
                </a:solidFill>
                <a:latin typeface="Nunito"/>
                <a:ea typeface="Nunito"/>
                <a:cs typeface="Nunito"/>
                <a:sym typeface="Nunito"/>
              </a:defRPr>
            </a:lvl8pPr>
            <a:lvl9pPr lvl="8" algn="r" rtl="0">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1.png"/><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1.xml"/><Relationship Id="rId5" Type="http://schemas.openxmlformats.org/officeDocument/2006/relationships/image" Target="../media/image2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276"/>
        <p:cNvGrpSpPr/>
        <p:nvPr/>
      </p:nvGrpSpPr>
      <p:grpSpPr>
        <a:xfrm>
          <a:off x="0" y="0"/>
          <a:ext cx="0" cy="0"/>
          <a:chOff x="0" y="0"/>
          <a:chExt cx="0" cy="0"/>
        </a:xfrm>
      </p:grpSpPr>
      <p:sp>
        <p:nvSpPr>
          <p:cNvPr id="277" name="Google Shape;277;p13"/>
          <p:cNvSpPr/>
          <p:nvPr/>
        </p:nvSpPr>
        <p:spPr>
          <a:xfrm rot="-8687773">
            <a:off x="5148006" y="2531485"/>
            <a:ext cx="4449677" cy="4690041"/>
          </a:xfrm>
          <a:custGeom>
            <a:avLst/>
            <a:gdLst/>
            <a:ahLst/>
            <a:cxnLst/>
            <a:rect l="l" t="t" r="r" b="b"/>
            <a:pathLst>
              <a:path w="8922358" h="9404330" extrusionOk="0">
                <a:moveTo>
                  <a:pt x="0" y="0"/>
                </a:moveTo>
                <a:lnTo>
                  <a:pt x="8922358" y="0"/>
                </a:lnTo>
                <a:lnTo>
                  <a:pt x="8922358" y="9404330"/>
                </a:lnTo>
                <a:lnTo>
                  <a:pt x="0" y="9404330"/>
                </a:lnTo>
                <a:lnTo>
                  <a:pt x="0" y="0"/>
                </a:lnTo>
                <a:close/>
              </a:path>
            </a:pathLst>
          </a:custGeom>
          <a:blipFill rotWithShape="1">
            <a:blip r:embed="rId3">
              <a:alphaModFix/>
            </a:blip>
            <a:stretch>
              <a:fillRect/>
            </a:stretch>
          </a:blipFill>
          <a:ln>
            <a:noFill/>
          </a:ln>
        </p:spPr>
        <p:txBody>
          <a:bodyPr/>
          <a:lstStyle/>
          <a:p>
            <a:endParaRPr lang="fr-FR"/>
          </a:p>
        </p:txBody>
      </p:sp>
      <p:sp>
        <p:nvSpPr>
          <p:cNvPr id="278" name="Google Shape;278;p13"/>
          <p:cNvSpPr/>
          <p:nvPr/>
        </p:nvSpPr>
        <p:spPr>
          <a:xfrm rot="-10013544">
            <a:off x="-917314" y="-1198494"/>
            <a:ext cx="4412654" cy="4114800"/>
          </a:xfrm>
          <a:custGeom>
            <a:avLst/>
            <a:gdLst/>
            <a:ahLst/>
            <a:cxnLst/>
            <a:rect l="l" t="t" r="r" b="b"/>
            <a:pathLst>
              <a:path w="8825308" h="8229600" extrusionOk="0">
                <a:moveTo>
                  <a:pt x="0" y="0"/>
                </a:moveTo>
                <a:lnTo>
                  <a:pt x="8825308" y="0"/>
                </a:lnTo>
                <a:lnTo>
                  <a:pt x="8825308" y="8229600"/>
                </a:lnTo>
                <a:lnTo>
                  <a:pt x="0" y="8229600"/>
                </a:lnTo>
                <a:lnTo>
                  <a:pt x="0" y="0"/>
                </a:lnTo>
                <a:close/>
              </a:path>
            </a:pathLst>
          </a:custGeom>
          <a:blipFill rotWithShape="1">
            <a:blip r:embed="rId4">
              <a:alphaModFix/>
            </a:blip>
            <a:stretch>
              <a:fillRect/>
            </a:stretch>
          </a:blipFill>
          <a:ln>
            <a:noFill/>
          </a:ln>
        </p:spPr>
        <p:txBody>
          <a:bodyPr/>
          <a:lstStyle/>
          <a:p>
            <a:endParaRPr lang="fr-FR"/>
          </a:p>
        </p:txBody>
      </p:sp>
      <p:sp>
        <p:nvSpPr>
          <p:cNvPr id="279" name="Google Shape;279;p13"/>
          <p:cNvSpPr txBox="1"/>
          <p:nvPr/>
        </p:nvSpPr>
        <p:spPr>
          <a:xfrm>
            <a:off x="2043000" y="1967625"/>
            <a:ext cx="5058000" cy="1874700"/>
          </a:xfrm>
          <a:prstGeom prst="rect">
            <a:avLst/>
          </a:prstGeom>
          <a:noFill/>
          <a:ln>
            <a:noFill/>
          </a:ln>
        </p:spPr>
        <p:txBody>
          <a:bodyPr spcFirstLastPara="1" wrap="square" lIns="0" tIns="0" rIns="0" bIns="0" anchor="t" anchorCtr="0">
            <a:spAutoFit/>
          </a:bodyPr>
          <a:lstStyle/>
          <a:p>
            <a:pPr marL="0" marR="0" lvl="0" indent="0" algn="ctr" rtl="0">
              <a:lnSpc>
                <a:spcPct val="110003"/>
              </a:lnSpc>
              <a:spcBef>
                <a:spcPts val="0"/>
              </a:spcBef>
              <a:spcAft>
                <a:spcPts val="0"/>
              </a:spcAft>
              <a:buNone/>
            </a:pPr>
            <a:r>
              <a:rPr lang="fr" sz="3400">
                <a:solidFill>
                  <a:srgbClr val="FFFFFF"/>
                </a:solidFill>
                <a:latin typeface="Forum"/>
                <a:ea typeface="Forum"/>
                <a:cs typeface="Forum"/>
                <a:sym typeface="Forum"/>
              </a:rPr>
              <a:t>Comparison of Similarity Measures for Trajectory Clustering </a:t>
            </a:r>
            <a:r>
              <a:rPr lang="fr" sz="4700">
                <a:solidFill>
                  <a:srgbClr val="FFFFFF"/>
                </a:solidFill>
                <a:latin typeface="Forum"/>
                <a:ea typeface="Forum"/>
                <a:cs typeface="Forum"/>
                <a:sym typeface="Forum"/>
              </a:rPr>
              <a:t> </a:t>
            </a:r>
            <a:endParaRPr sz="700"/>
          </a:p>
        </p:txBody>
      </p:sp>
      <p:sp>
        <p:nvSpPr>
          <p:cNvPr id="280" name="Google Shape;280;p13"/>
          <p:cNvSpPr txBox="1"/>
          <p:nvPr/>
        </p:nvSpPr>
        <p:spPr>
          <a:xfrm>
            <a:off x="91975" y="55625"/>
            <a:ext cx="3000000" cy="1006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fr" sz="1200" b="1">
                <a:solidFill>
                  <a:schemeClr val="lt1"/>
                </a:solidFill>
                <a:latin typeface="Forum"/>
                <a:ea typeface="Forum"/>
                <a:cs typeface="Forum"/>
                <a:sym typeface="Forum"/>
              </a:rPr>
              <a:t>Ministère de l’Enseignement Supérieur et de la Recherche Scientifique</a:t>
            </a:r>
            <a:endParaRPr sz="1200" b="1">
              <a:solidFill>
                <a:schemeClr val="lt1"/>
              </a:solidFill>
              <a:latin typeface="Forum"/>
              <a:ea typeface="Forum"/>
              <a:cs typeface="Forum"/>
              <a:sym typeface="Forum"/>
            </a:endParaRPr>
          </a:p>
          <a:p>
            <a:pPr marL="0" lvl="0" indent="0" algn="ctr" rtl="0">
              <a:lnSpc>
                <a:spcPct val="115000"/>
              </a:lnSpc>
              <a:spcBef>
                <a:spcPts val="0"/>
              </a:spcBef>
              <a:spcAft>
                <a:spcPts val="0"/>
              </a:spcAft>
              <a:buNone/>
            </a:pPr>
            <a:r>
              <a:rPr lang="fr" sz="1200" b="1">
                <a:solidFill>
                  <a:schemeClr val="lt1"/>
                </a:solidFill>
                <a:latin typeface="Forum"/>
                <a:ea typeface="Forum"/>
                <a:cs typeface="Forum"/>
                <a:sym typeface="Forum"/>
              </a:rPr>
              <a:t> Université de Tunis </a:t>
            </a:r>
            <a:endParaRPr b="1">
              <a:solidFill>
                <a:schemeClr val="lt1"/>
              </a:solidFill>
              <a:latin typeface="Forum"/>
              <a:ea typeface="Forum"/>
              <a:cs typeface="Forum"/>
              <a:sym typeface="Forum"/>
            </a:endParaRPr>
          </a:p>
          <a:p>
            <a:pPr marL="0" lvl="0" indent="0" algn="ctr" rtl="0">
              <a:lnSpc>
                <a:spcPct val="115000"/>
              </a:lnSpc>
              <a:spcBef>
                <a:spcPts val="0"/>
              </a:spcBef>
              <a:spcAft>
                <a:spcPts val="0"/>
              </a:spcAft>
              <a:buNone/>
            </a:pPr>
            <a:r>
              <a:rPr lang="fr" sz="1200" b="1">
                <a:solidFill>
                  <a:schemeClr val="lt1"/>
                </a:solidFill>
                <a:latin typeface="Forum"/>
                <a:ea typeface="Forum"/>
                <a:cs typeface="Forum"/>
                <a:sym typeface="Forum"/>
              </a:rPr>
              <a:t>Institut Supérieur de Gestion</a:t>
            </a:r>
            <a:r>
              <a:rPr lang="fr" sz="1200" b="1">
                <a:solidFill>
                  <a:srgbClr val="323232"/>
                </a:solidFill>
                <a:latin typeface="Forum"/>
                <a:ea typeface="Forum"/>
                <a:cs typeface="Forum"/>
                <a:sym typeface="Forum"/>
              </a:rPr>
              <a:t> </a:t>
            </a:r>
            <a:endParaRPr b="1">
              <a:latin typeface="Forum"/>
              <a:ea typeface="Forum"/>
              <a:cs typeface="Forum"/>
              <a:sym typeface="Forum"/>
            </a:endParaRPr>
          </a:p>
        </p:txBody>
      </p:sp>
      <p:pic>
        <p:nvPicPr>
          <p:cNvPr id="281" name="Google Shape;281;p13"/>
          <p:cNvPicPr preferRelativeResize="0"/>
          <p:nvPr/>
        </p:nvPicPr>
        <p:blipFill rotWithShape="1">
          <a:blip r:embed="rId5">
            <a:alphaModFix/>
          </a:blip>
          <a:srcRect/>
          <a:stretch/>
        </p:blipFill>
        <p:spPr>
          <a:xfrm>
            <a:off x="6885925" y="131925"/>
            <a:ext cx="2191924" cy="853900"/>
          </a:xfrm>
          <a:prstGeom prst="rect">
            <a:avLst/>
          </a:prstGeom>
          <a:noFill/>
          <a:ln>
            <a:noFill/>
          </a:ln>
        </p:spPr>
      </p:pic>
      <p:sp>
        <p:nvSpPr>
          <p:cNvPr id="282" name="Google Shape;282;p13"/>
          <p:cNvSpPr txBox="1"/>
          <p:nvPr/>
        </p:nvSpPr>
        <p:spPr>
          <a:xfrm>
            <a:off x="2204650" y="1314775"/>
            <a:ext cx="4984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 sz="1400" b="1" i="0" u="none" strike="noStrike" cap="none">
                <a:solidFill>
                  <a:srgbClr val="EFEFEF"/>
                </a:solidFill>
                <a:latin typeface="Comic Sans MS"/>
                <a:ea typeface="Comic Sans MS"/>
                <a:cs typeface="Comic Sans MS"/>
                <a:sym typeface="Comic Sans MS"/>
              </a:rPr>
              <a:t>Mast</a:t>
            </a:r>
            <a:r>
              <a:rPr lang="fr" b="1">
                <a:solidFill>
                  <a:srgbClr val="EFEFEF"/>
                </a:solidFill>
                <a:latin typeface="Comic Sans MS"/>
                <a:ea typeface="Comic Sans MS"/>
                <a:cs typeface="Comic Sans MS"/>
                <a:sym typeface="Comic Sans MS"/>
              </a:rPr>
              <a:t>er</a:t>
            </a:r>
            <a:r>
              <a:rPr lang="fr" sz="1400" b="1" i="0" u="none" strike="noStrike" cap="none">
                <a:solidFill>
                  <a:srgbClr val="EFEFEF"/>
                </a:solidFill>
                <a:latin typeface="Comic Sans MS"/>
                <a:ea typeface="Comic Sans MS"/>
                <a:cs typeface="Comic Sans MS"/>
                <a:sym typeface="Comic Sans MS"/>
              </a:rPr>
              <a:t> professionnel en Data Science for business</a:t>
            </a:r>
            <a:endParaRPr sz="1400" b="1" i="0" u="none" strike="noStrike" cap="none">
              <a:solidFill>
                <a:srgbClr val="EFEFEF"/>
              </a:solidFill>
              <a:latin typeface="Comic Sans MS"/>
              <a:ea typeface="Comic Sans MS"/>
              <a:cs typeface="Comic Sans MS"/>
              <a:sym typeface="Comic Sans MS"/>
            </a:endParaRPr>
          </a:p>
        </p:txBody>
      </p:sp>
      <p:sp>
        <p:nvSpPr>
          <p:cNvPr id="283" name="Google Shape;283;p13"/>
          <p:cNvSpPr txBox="1"/>
          <p:nvPr/>
        </p:nvSpPr>
        <p:spPr>
          <a:xfrm>
            <a:off x="3072000" y="4527725"/>
            <a:ext cx="30000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fr" sz="1300" b="1">
                <a:solidFill>
                  <a:srgbClr val="CFE2F3"/>
                </a:solidFill>
                <a:latin typeface="Times New Roman"/>
                <a:ea typeface="Times New Roman"/>
                <a:cs typeface="Times New Roman"/>
                <a:sym typeface="Times New Roman"/>
              </a:rPr>
              <a:t>     </a:t>
            </a:r>
            <a:r>
              <a:rPr lang="fr" sz="1300" b="1" i="0" u="none" strike="noStrike" cap="none">
                <a:solidFill>
                  <a:srgbClr val="CFE2F3"/>
                </a:solidFill>
                <a:latin typeface="Times New Roman"/>
                <a:ea typeface="Times New Roman"/>
                <a:cs typeface="Times New Roman"/>
                <a:sym typeface="Times New Roman"/>
              </a:rPr>
              <a:t>Année universitaire 2023-2024</a:t>
            </a:r>
            <a:endParaRPr sz="1300" b="1" i="0" u="none" strike="noStrike" cap="none">
              <a:solidFill>
                <a:srgbClr val="CFE2F3"/>
              </a:solidFill>
              <a:latin typeface="Times New Roman"/>
              <a:ea typeface="Times New Roman"/>
              <a:cs typeface="Times New Roman"/>
              <a:sym typeface="Times New Roman"/>
            </a:endParaRPr>
          </a:p>
        </p:txBody>
      </p:sp>
      <p:sp>
        <p:nvSpPr>
          <p:cNvPr id="284" name="Google Shape;284;p1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A37"/>
        </a:solidFill>
        <a:effectLst/>
      </p:bgPr>
    </p:bg>
    <p:spTree>
      <p:nvGrpSpPr>
        <p:cNvPr id="1" name="Shape 288"/>
        <p:cNvGrpSpPr/>
        <p:nvPr/>
      </p:nvGrpSpPr>
      <p:grpSpPr>
        <a:xfrm>
          <a:off x="0" y="0"/>
          <a:ext cx="0" cy="0"/>
          <a:chOff x="0" y="0"/>
          <a:chExt cx="0" cy="0"/>
        </a:xfrm>
      </p:grpSpPr>
      <p:grpSp>
        <p:nvGrpSpPr>
          <p:cNvPr id="289" name="Google Shape;289;p14"/>
          <p:cNvGrpSpPr/>
          <p:nvPr/>
        </p:nvGrpSpPr>
        <p:grpSpPr>
          <a:xfrm>
            <a:off x="75787" y="119006"/>
            <a:ext cx="8553812" cy="1427135"/>
            <a:chOff x="-13862667" y="-1054250"/>
            <a:chExt cx="22810167" cy="3805693"/>
          </a:xfrm>
        </p:grpSpPr>
        <p:sp>
          <p:nvSpPr>
            <p:cNvPr id="290" name="Google Shape;290;p14"/>
            <p:cNvSpPr txBox="1"/>
            <p:nvPr/>
          </p:nvSpPr>
          <p:spPr>
            <a:xfrm>
              <a:off x="0" y="2464043"/>
              <a:ext cx="8947500" cy="287400"/>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None/>
              </a:pPr>
              <a:endParaRPr sz="700"/>
            </a:p>
          </p:txBody>
        </p:sp>
        <p:sp>
          <p:nvSpPr>
            <p:cNvPr id="291" name="Google Shape;291;p14"/>
            <p:cNvSpPr txBox="1"/>
            <p:nvPr/>
          </p:nvSpPr>
          <p:spPr>
            <a:xfrm>
              <a:off x="-13862667" y="-1054250"/>
              <a:ext cx="8947500" cy="1149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fr" sz="2800" u="sng">
                  <a:solidFill>
                    <a:srgbClr val="FFFFFF"/>
                  </a:solidFill>
                  <a:latin typeface="Forum"/>
                  <a:ea typeface="Forum"/>
                  <a:cs typeface="Forum"/>
                  <a:sym typeface="Forum"/>
                </a:rPr>
                <a:t> Réalisé par :</a:t>
              </a:r>
              <a:endParaRPr sz="700" u="sng"/>
            </a:p>
          </p:txBody>
        </p:sp>
      </p:grpSp>
      <p:pic>
        <p:nvPicPr>
          <p:cNvPr id="292" name="Google Shape;292;p14"/>
          <p:cNvPicPr preferRelativeResize="0"/>
          <p:nvPr/>
        </p:nvPicPr>
        <p:blipFill rotWithShape="1">
          <a:blip r:embed="rId3">
            <a:alphaModFix/>
          </a:blip>
          <a:srcRect t="12212" b="12212"/>
          <a:stretch/>
        </p:blipFill>
        <p:spPr>
          <a:xfrm>
            <a:off x="3751659" y="452575"/>
            <a:ext cx="1719826" cy="1252176"/>
          </a:xfrm>
          <a:prstGeom prst="rect">
            <a:avLst/>
          </a:prstGeom>
          <a:noFill/>
          <a:ln>
            <a:noFill/>
          </a:ln>
        </p:spPr>
      </p:pic>
      <p:pic>
        <p:nvPicPr>
          <p:cNvPr id="293" name="Google Shape;293;p14"/>
          <p:cNvPicPr preferRelativeResize="0"/>
          <p:nvPr/>
        </p:nvPicPr>
        <p:blipFill rotWithShape="1">
          <a:blip r:embed="rId4">
            <a:alphaModFix/>
          </a:blip>
          <a:srcRect b="13599"/>
          <a:stretch/>
        </p:blipFill>
        <p:spPr>
          <a:xfrm>
            <a:off x="5851750" y="3418025"/>
            <a:ext cx="1719826" cy="1485950"/>
          </a:xfrm>
          <a:prstGeom prst="rect">
            <a:avLst/>
          </a:prstGeom>
          <a:noFill/>
          <a:ln>
            <a:noFill/>
          </a:ln>
        </p:spPr>
      </p:pic>
      <p:grpSp>
        <p:nvGrpSpPr>
          <p:cNvPr id="294" name="Google Shape;294;p14"/>
          <p:cNvGrpSpPr/>
          <p:nvPr/>
        </p:nvGrpSpPr>
        <p:grpSpPr>
          <a:xfrm>
            <a:off x="394500" y="986305"/>
            <a:ext cx="3164531" cy="718439"/>
            <a:chOff x="0" y="-815494"/>
            <a:chExt cx="7619867" cy="1915836"/>
          </a:xfrm>
        </p:grpSpPr>
        <p:sp>
          <p:nvSpPr>
            <p:cNvPr id="295" name="Google Shape;295;p14"/>
            <p:cNvSpPr txBox="1"/>
            <p:nvPr/>
          </p:nvSpPr>
          <p:spPr>
            <a:xfrm>
              <a:off x="3910067" y="-815494"/>
              <a:ext cx="3709800" cy="533700"/>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None/>
              </a:pPr>
              <a:r>
                <a:rPr lang="fr" sz="1300" b="1">
                  <a:solidFill>
                    <a:srgbClr val="FFFFFF"/>
                  </a:solidFill>
                  <a:latin typeface="Nunito"/>
                  <a:ea typeface="Nunito"/>
                  <a:cs typeface="Nunito"/>
                  <a:sym typeface="Nunito"/>
                </a:rPr>
                <a:t>Mohamed Aziz Kefi</a:t>
              </a:r>
              <a:endParaRPr sz="800" b="1">
                <a:latin typeface="Nunito"/>
                <a:ea typeface="Nunito"/>
                <a:cs typeface="Nunito"/>
                <a:sym typeface="Nunito"/>
              </a:endParaRPr>
            </a:p>
          </p:txBody>
        </p:sp>
        <p:sp>
          <p:nvSpPr>
            <p:cNvPr id="296" name="Google Shape;296;p14"/>
            <p:cNvSpPr txBox="1"/>
            <p:nvPr/>
          </p:nvSpPr>
          <p:spPr>
            <a:xfrm>
              <a:off x="0" y="812942"/>
              <a:ext cx="3709800" cy="287400"/>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None/>
              </a:pPr>
              <a:endParaRPr sz="700"/>
            </a:p>
          </p:txBody>
        </p:sp>
      </p:grpSp>
      <p:grpSp>
        <p:nvGrpSpPr>
          <p:cNvPr id="297" name="Google Shape;297;p14"/>
          <p:cNvGrpSpPr/>
          <p:nvPr/>
        </p:nvGrpSpPr>
        <p:grpSpPr>
          <a:xfrm>
            <a:off x="1359575" y="2387031"/>
            <a:ext cx="3212254" cy="757385"/>
            <a:chOff x="0" y="-879294"/>
            <a:chExt cx="7365867" cy="2019694"/>
          </a:xfrm>
        </p:grpSpPr>
        <p:sp>
          <p:nvSpPr>
            <p:cNvPr id="298" name="Google Shape;298;p14"/>
            <p:cNvSpPr txBox="1"/>
            <p:nvPr/>
          </p:nvSpPr>
          <p:spPr>
            <a:xfrm>
              <a:off x="3656067" y="-879294"/>
              <a:ext cx="3709800" cy="533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fr" sz="1300" b="1">
                  <a:solidFill>
                    <a:srgbClr val="FFFFFF"/>
                  </a:solidFill>
                  <a:latin typeface="Nunito"/>
                  <a:ea typeface="Nunito"/>
                  <a:cs typeface="Nunito"/>
                  <a:sym typeface="Nunito"/>
                </a:rPr>
                <a:t>Rawand boukadida</a:t>
              </a:r>
              <a:endParaRPr sz="800" b="1">
                <a:latin typeface="Nunito"/>
                <a:ea typeface="Nunito"/>
                <a:cs typeface="Nunito"/>
                <a:sym typeface="Nunito"/>
              </a:endParaRPr>
            </a:p>
          </p:txBody>
        </p:sp>
        <p:sp>
          <p:nvSpPr>
            <p:cNvPr id="299" name="Google Shape;299;p14"/>
            <p:cNvSpPr txBox="1"/>
            <p:nvPr/>
          </p:nvSpPr>
          <p:spPr>
            <a:xfrm>
              <a:off x="0" y="853000"/>
              <a:ext cx="3709800" cy="287400"/>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None/>
              </a:pPr>
              <a:endParaRPr sz="700"/>
            </a:p>
          </p:txBody>
        </p:sp>
      </p:grpSp>
      <p:grpSp>
        <p:nvGrpSpPr>
          <p:cNvPr id="300" name="Google Shape;300;p14"/>
          <p:cNvGrpSpPr/>
          <p:nvPr/>
        </p:nvGrpSpPr>
        <p:grpSpPr>
          <a:xfrm>
            <a:off x="4080312" y="3826688"/>
            <a:ext cx="1636575" cy="436392"/>
            <a:chOff x="0" y="-67228"/>
            <a:chExt cx="4364200" cy="1163712"/>
          </a:xfrm>
        </p:grpSpPr>
        <p:sp>
          <p:nvSpPr>
            <p:cNvPr id="301" name="Google Shape;301;p14"/>
            <p:cNvSpPr txBox="1"/>
            <p:nvPr/>
          </p:nvSpPr>
          <p:spPr>
            <a:xfrm>
              <a:off x="654400" y="-67228"/>
              <a:ext cx="3709800" cy="533700"/>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None/>
              </a:pPr>
              <a:r>
                <a:rPr lang="fr" sz="1300" b="1">
                  <a:solidFill>
                    <a:srgbClr val="FFFFFF"/>
                  </a:solidFill>
                  <a:latin typeface="Nunito"/>
                  <a:ea typeface="Nunito"/>
                  <a:cs typeface="Nunito"/>
                  <a:sym typeface="Nunito"/>
                </a:rPr>
                <a:t>Oussama Bouhali</a:t>
              </a:r>
              <a:endParaRPr sz="800" b="1">
                <a:latin typeface="Nunito"/>
                <a:ea typeface="Nunito"/>
                <a:cs typeface="Nunito"/>
                <a:sym typeface="Nunito"/>
              </a:endParaRPr>
            </a:p>
          </p:txBody>
        </p:sp>
        <p:sp>
          <p:nvSpPr>
            <p:cNvPr id="302" name="Google Shape;302;p14"/>
            <p:cNvSpPr txBox="1"/>
            <p:nvPr/>
          </p:nvSpPr>
          <p:spPr>
            <a:xfrm>
              <a:off x="0" y="809084"/>
              <a:ext cx="3709800" cy="287400"/>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None/>
              </a:pPr>
              <a:endParaRPr sz="700"/>
            </a:p>
          </p:txBody>
        </p:sp>
      </p:grpSp>
      <p:pic>
        <p:nvPicPr>
          <p:cNvPr id="303" name="Google Shape;303;p14"/>
          <p:cNvPicPr preferRelativeResize="0"/>
          <p:nvPr/>
        </p:nvPicPr>
        <p:blipFill rotWithShape="1">
          <a:blip r:embed="rId5">
            <a:alphaModFix/>
          </a:blip>
          <a:srcRect t="31720" b="13786"/>
          <a:stretch/>
        </p:blipFill>
        <p:spPr>
          <a:xfrm>
            <a:off x="4756250" y="1914775"/>
            <a:ext cx="1719849" cy="1252176"/>
          </a:xfrm>
          <a:prstGeom prst="rect">
            <a:avLst/>
          </a:prstGeom>
          <a:noFill/>
          <a:ln>
            <a:noFill/>
          </a:ln>
        </p:spPr>
      </p:pic>
      <p:sp>
        <p:nvSpPr>
          <p:cNvPr id="304" name="Google Shape;304;p14"/>
          <p:cNvSpPr/>
          <p:nvPr/>
        </p:nvSpPr>
        <p:spPr>
          <a:xfrm rot="8100000" flipH="1">
            <a:off x="-694585" y="2897698"/>
            <a:ext cx="3890536" cy="4100697"/>
          </a:xfrm>
          <a:custGeom>
            <a:avLst/>
            <a:gdLst/>
            <a:ahLst/>
            <a:cxnLst/>
            <a:rect l="l" t="t" r="r" b="b"/>
            <a:pathLst>
              <a:path w="7804324" h="8225902" extrusionOk="0">
                <a:moveTo>
                  <a:pt x="7804325" y="0"/>
                </a:moveTo>
                <a:lnTo>
                  <a:pt x="0" y="0"/>
                </a:lnTo>
                <a:lnTo>
                  <a:pt x="0" y="8225902"/>
                </a:lnTo>
                <a:lnTo>
                  <a:pt x="7804325" y="8225902"/>
                </a:lnTo>
                <a:lnTo>
                  <a:pt x="7804325" y="0"/>
                </a:lnTo>
                <a:close/>
              </a:path>
            </a:pathLst>
          </a:custGeom>
          <a:blipFill rotWithShape="1">
            <a:blip r:embed="rId6">
              <a:alphaModFix/>
            </a:blip>
            <a:stretch>
              <a:fillRect/>
            </a:stretch>
          </a:blipFill>
          <a:ln>
            <a:noFill/>
          </a:ln>
        </p:spPr>
        <p:txBody>
          <a:bodyPr/>
          <a:lstStyle/>
          <a:p>
            <a:endParaRPr lang="fr-FR"/>
          </a:p>
        </p:txBody>
      </p:sp>
      <p:sp>
        <p:nvSpPr>
          <p:cNvPr id="305" name="Google Shape;305;p1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A37"/>
        </a:solidFill>
        <a:effectLst/>
      </p:bgPr>
    </p:bg>
    <p:spTree>
      <p:nvGrpSpPr>
        <p:cNvPr id="1" name="Shape 309"/>
        <p:cNvGrpSpPr/>
        <p:nvPr/>
      </p:nvGrpSpPr>
      <p:grpSpPr>
        <a:xfrm>
          <a:off x="0" y="0"/>
          <a:ext cx="0" cy="0"/>
          <a:chOff x="0" y="0"/>
          <a:chExt cx="0" cy="0"/>
        </a:xfrm>
      </p:grpSpPr>
      <p:sp>
        <p:nvSpPr>
          <p:cNvPr id="310" name="Google Shape;310;p15"/>
          <p:cNvSpPr txBox="1"/>
          <p:nvPr/>
        </p:nvSpPr>
        <p:spPr>
          <a:xfrm>
            <a:off x="514350" y="514350"/>
            <a:ext cx="4201425" cy="692662"/>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fr" sz="4500" u="sng">
                <a:solidFill>
                  <a:srgbClr val="FFFFFF"/>
                </a:solidFill>
                <a:latin typeface="Forum"/>
                <a:ea typeface="Forum"/>
                <a:cs typeface="Forum"/>
                <a:sym typeface="Forum"/>
              </a:rPr>
              <a:t>Plan</a:t>
            </a:r>
            <a:endParaRPr sz="700" u="sng"/>
          </a:p>
        </p:txBody>
      </p:sp>
      <p:grpSp>
        <p:nvGrpSpPr>
          <p:cNvPr id="311" name="Google Shape;311;p15"/>
          <p:cNvGrpSpPr/>
          <p:nvPr/>
        </p:nvGrpSpPr>
        <p:grpSpPr>
          <a:xfrm>
            <a:off x="2856363" y="1785775"/>
            <a:ext cx="3611455" cy="261675"/>
            <a:chOff x="2429840" y="36795"/>
            <a:chExt cx="17522828" cy="697800"/>
          </a:xfrm>
        </p:grpSpPr>
        <p:sp>
          <p:nvSpPr>
            <p:cNvPr id="312" name="Google Shape;312;p15"/>
            <p:cNvSpPr txBox="1"/>
            <p:nvPr/>
          </p:nvSpPr>
          <p:spPr>
            <a:xfrm>
              <a:off x="2429840" y="36795"/>
              <a:ext cx="1867800" cy="697800"/>
            </a:xfrm>
            <a:prstGeom prst="rect">
              <a:avLst/>
            </a:prstGeom>
            <a:noFill/>
            <a:ln>
              <a:noFill/>
            </a:ln>
          </p:spPr>
          <p:txBody>
            <a:bodyPr spcFirstLastPara="1" wrap="square" lIns="0" tIns="0" rIns="0" bIns="0" anchor="t" anchorCtr="0">
              <a:spAutoFit/>
            </a:bodyPr>
            <a:lstStyle/>
            <a:p>
              <a:pPr marL="0" marR="0" lvl="0" indent="0" algn="l" rtl="0">
                <a:lnSpc>
                  <a:spcPct val="130008"/>
                </a:lnSpc>
                <a:spcBef>
                  <a:spcPts val="0"/>
                </a:spcBef>
                <a:spcAft>
                  <a:spcPts val="0"/>
                </a:spcAft>
                <a:buNone/>
              </a:pPr>
              <a:r>
                <a:rPr lang="fr" sz="1700" b="0" i="0" u="none" strike="noStrike" cap="none">
                  <a:solidFill>
                    <a:srgbClr val="FFFFFF"/>
                  </a:solidFill>
                  <a:latin typeface="Arial"/>
                  <a:ea typeface="Arial"/>
                  <a:cs typeface="Arial"/>
                  <a:sym typeface="Arial"/>
                </a:rPr>
                <a:t>01</a:t>
              </a:r>
              <a:endParaRPr sz="700"/>
            </a:p>
          </p:txBody>
        </p:sp>
        <p:sp>
          <p:nvSpPr>
            <p:cNvPr id="313" name="Google Shape;313;p15"/>
            <p:cNvSpPr txBox="1"/>
            <p:nvPr/>
          </p:nvSpPr>
          <p:spPr>
            <a:xfrm>
              <a:off x="5519367" y="98428"/>
              <a:ext cx="14433300" cy="574500"/>
            </a:xfrm>
            <a:prstGeom prst="rect">
              <a:avLst/>
            </a:prstGeom>
            <a:noFill/>
            <a:ln>
              <a:noFill/>
            </a:ln>
          </p:spPr>
          <p:txBody>
            <a:bodyPr spcFirstLastPara="1" wrap="square" lIns="0" tIns="0" rIns="0" bIns="0" anchor="t" anchorCtr="0">
              <a:spAutoFit/>
            </a:bodyPr>
            <a:lstStyle/>
            <a:p>
              <a:pPr marL="0" marR="0" lvl="0" indent="0" algn="l" rtl="0">
                <a:lnSpc>
                  <a:spcPct val="129978"/>
                </a:lnSpc>
                <a:spcBef>
                  <a:spcPts val="0"/>
                </a:spcBef>
                <a:spcAft>
                  <a:spcPts val="0"/>
                </a:spcAft>
                <a:buNone/>
              </a:pPr>
              <a:r>
                <a:rPr lang="fr">
                  <a:solidFill>
                    <a:srgbClr val="FFFFFF"/>
                  </a:solidFill>
                </a:rPr>
                <a:t>Introduction</a:t>
              </a:r>
              <a:endParaRPr sz="1000"/>
            </a:p>
          </p:txBody>
        </p:sp>
      </p:grpSp>
      <p:grpSp>
        <p:nvGrpSpPr>
          <p:cNvPr id="314" name="Google Shape;314;p15"/>
          <p:cNvGrpSpPr/>
          <p:nvPr/>
        </p:nvGrpSpPr>
        <p:grpSpPr>
          <a:xfrm>
            <a:off x="335436" y="2429156"/>
            <a:ext cx="4095048" cy="261675"/>
            <a:chOff x="0" y="85917"/>
            <a:chExt cx="10920129" cy="697800"/>
          </a:xfrm>
        </p:grpSpPr>
        <p:sp>
          <p:nvSpPr>
            <p:cNvPr id="315" name="Google Shape;315;p15"/>
            <p:cNvSpPr txBox="1"/>
            <p:nvPr/>
          </p:nvSpPr>
          <p:spPr>
            <a:xfrm>
              <a:off x="0" y="85917"/>
              <a:ext cx="800100" cy="697800"/>
            </a:xfrm>
            <a:prstGeom prst="rect">
              <a:avLst/>
            </a:prstGeom>
            <a:noFill/>
            <a:ln>
              <a:noFill/>
            </a:ln>
          </p:spPr>
          <p:txBody>
            <a:bodyPr spcFirstLastPara="1" wrap="square" lIns="0" tIns="0" rIns="0" bIns="0" anchor="t" anchorCtr="0">
              <a:spAutoFit/>
            </a:bodyPr>
            <a:lstStyle/>
            <a:p>
              <a:pPr marL="19050" marR="0" lvl="0" indent="0" algn="l" rtl="0">
                <a:lnSpc>
                  <a:spcPct val="130008"/>
                </a:lnSpc>
                <a:spcBef>
                  <a:spcPts val="0"/>
                </a:spcBef>
                <a:spcAft>
                  <a:spcPts val="0"/>
                </a:spcAft>
                <a:buNone/>
              </a:pPr>
              <a:r>
                <a:rPr lang="fr" sz="1700" b="0" i="0" u="none" strike="noStrike" cap="none">
                  <a:solidFill>
                    <a:srgbClr val="FFFFFF"/>
                  </a:solidFill>
                  <a:latin typeface="Arial"/>
                  <a:ea typeface="Arial"/>
                  <a:cs typeface="Arial"/>
                  <a:sym typeface="Arial"/>
                </a:rPr>
                <a:t>02</a:t>
              </a:r>
              <a:endParaRPr sz="700"/>
            </a:p>
          </p:txBody>
        </p:sp>
        <p:sp>
          <p:nvSpPr>
            <p:cNvPr id="316" name="Google Shape;316;p15"/>
            <p:cNvSpPr txBox="1"/>
            <p:nvPr/>
          </p:nvSpPr>
          <p:spPr>
            <a:xfrm>
              <a:off x="1237929" y="147582"/>
              <a:ext cx="9682200" cy="574500"/>
            </a:xfrm>
            <a:prstGeom prst="rect">
              <a:avLst/>
            </a:prstGeom>
            <a:noFill/>
            <a:ln>
              <a:noFill/>
            </a:ln>
          </p:spPr>
          <p:txBody>
            <a:bodyPr spcFirstLastPara="1" wrap="square" lIns="0" tIns="0" rIns="0" bIns="0" anchor="t" anchorCtr="0">
              <a:spAutoFit/>
            </a:bodyPr>
            <a:lstStyle/>
            <a:p>
              <a:pPr marL="19050" marR="0" lvl="0" indent="0" algn="l" rtl="0">
                <a:lnSpc>
                  <a:spcPct val="130000"/>
                </a:lnSpc>
                <a:spcBef>
                  <a:spcPts val="0"/>
                </a:spcBef>
                <a:spcAft>
                  <a:spcPts val="0"/>
                </a:spcAft>
                <a:buNone/>
              </a:pPr>
              <a:r>
                <a:rPr lang="fr">
                  <a:solidFill>
                    <a:srgbClr val="FFFFFF"/>
                  </a:solidFill>
                </a:rPr>
                <a:t>DBSCAN</a:t>
              </a:r>
              <a:endParaRPr sz="700"/>
            </a:p>
          </p:txBody>
        </p:sp>
      </p:grpSp>
      <p:grpSp>
        <p:nvGrpSpPr>
          <p:cNvPr id="317" name="Google Shape;317;p15"/>
          <p:cNvGrpSpPr/>
          <p:nvPr/>
        </p:nvGrpSpPr>
        <p:grpSpPr>
          <a:xfrm>
            <a:off x="335436" y="3274482"/>
            <a:ext cx="4095036" cy="266770"/>
            <a:chOff x="224933" y="37627"/>
            <a:chExt cx="10920096" cy="711388"/>
          </a:xfrm>
        </p:grpSpPr>
        <p:sp>
          <p:nvSpPr>
            <p:cNvPr id="318" name="Google Shape;318;p15"/>
            <p:cNvSpPr txBox="1"/>
            <p:nvPr/>
          </p:nvSpPr>
          <p:spPr>
            <a:xfrm>
              <a:off x="224933" y="37627"/>
              <a:ext cx="797100" cy="697800"/>
            </a:xfrm>
            <a:prstGeom prst="rect">
              <a:avLst/>
            </a:prstGeom>
            <a:noFill/>
            <a:ln>
              <a:noFill/>
            </a:ln>
          </p:spPr>
          <p:txBody>
            <a:bodyPr spcFirstLastPara="1" wrap="square" lIns="0" tIns="0" rIns="0" bIns="0" anchor="t" anchorCtr="0">
              <a:spAutoFit/>
            </a:bodyPr>
            <a:lstStyle/>
            <a:p>
              <a:pPr marL="0" marR="0" lvl="0" indent="0" algn="l" rtl="0">
                <a:lnSpc>
                  <a:spcPct val="130008"/>
                </a:lnSpc>
                <a:spcBef>
                  <a:spcPts val="0"/>
                </a:spcBef>
                <a:spcAft>
                  <a:spcPts val="0"/>
                </a:spcAft>
                <a:buNone/>
              </a:pPr>
              <a:r>
                <a:rPr lang="fr" sz="1700" b="0" i="0" u="none" strike="noStrike" cap="none">
                  <a:solidFill>
                    <a:srgbClr val="FFFFFF"/>
                  </a:solidFill>
                  <a:latin typeface="Arial"/>
                  <a:ea typeface="Arial"/>
                  <a:cs typeface="Arial"/>
                  <a:sym typeface="Arial"/>
                </a:rPr>
                <a:t>03</a:t>
              </a:r>
              <a:endParaRPr sz="700"/>
            </a:p>
          </p:txBody>
        </p:sp>
        <p:sp>
          <p:nvSpPr>
            <p:cNvPr id="319" name="Google Shape;319;p15"/>
            <p:cNvSpPr txBox="1"/>
            <p:nvPr/>
          </p:nvSpPr>
          <p:spPr>
            <a:xfrm>
              <a:off x="1462829" y="174515"/>
              <a:ext cx="9682200" cy="5745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fr">
                  <a:solidFill>
                    <a:srgbClr val="FFFFFF"/>
                  </a:solidFill>
                </a:rPr>
                <a:t>Les différentes mesures de similarité</a:t>
              </a:r>
              <a:endParaRPr sz="700"/>
            </a:p>
          </p:txBody>
        </p:sp>
      </p:grpSp>
      <p:cxnSp>
        <p:nvCxnSpPr>
          <p:cNvPr id="320" name="Google Shape;320;p15"/>
          <p:cNvCxnSpPr/>
          <p:nvPr/>
        </p:nvCxnSpPr>
        <p:spPr>
          <a:xfrm>
            <a:off x="2194562" y="2147813"/>
            <a:ext cx="4023900" cy="4800"/>
          </a:xfrm>
          <a:prstGeom prst="straightConnector1">
            <a:avLst/>
          </a:prstGeom>
          <a:noFill/>
          <a:ln w="9525" cap="rnd" cmpd="sng">
            <a:solidFill>
              <a:srgbClr val="FFFFFF"/>
            </a:solidFill>
            <a:prstDash val="solid"/>
            <a:round/>
            <a:headEnd type="none" w="sm" len="sm"/>
            <a:tailEnd type="none" w="sm" len="sm"/>
          </a:ln>
        </p:spPr>
      </p:cxnSp>
      <p:cxnSp>
        <p:nvCxnSpPr>
          <p:cNvPr id="321" name="Google Shape;321;p15"/>
          <p:cNvCxnSpPr/>
          <p:nvPr/>
        </p:nvCxnSpPr>
        <p:spPr>
          <a:xfrm>
            <a:off x="346561" y="2967340"/>
            <a:ext cx="3992700" cy="37500"/>
          </a:xfrm>
          <a:prstGeom prst="straightConnector1">
            <a:avLst/>
          </a:prstGeom>
          <a:noFill/>
          <a:ln w="9525" cap="rnd" cmpd="sng">
            <a:solidFill>
              <a:srgbClr val="FFFFFF"/>
            </a:solidFill>
            <a:prstDash val="solid"/>
            <a:round/>
            <a:headEnd type="none" w="sm" len="sm"/>
            <a:tailEnd type="none" w="sm" len="sm"/>
          </a:ln>
        </p:spPr>
      </p:cxnSp>
      <p:grpSp>
        <p:nvGrpSpPr>
          <p:cNvPr id="322" name="Google Shape;322;p15"/>
          <p:cNvGrpSpPr/>
          <p:nvPr/>
        </p:nvGrpSpPr>
        <p:grpSpPr>
          <a:xfrm>
            <a:off x="4678886" y="2316118"/>
            <a:ext cx="4179386" cy="374726"/>
            <a:chOff x="0" y="-28685"/>
            <a:chExt cx="11145029" cy="999268"/>
          </a:xfrm>
        </p:grpSpPr>
        <p:sp>
          <p:nvSpPr>
            <p:cNvPr id="323" name="Google Shape;323;p15"/>
            <p:cNvSpPr txBox="1"/>
            <p:nvPr/>
          </p:nvSpPr>
          <p:spPr>
            <a:xfrm>
              <a:off x="0" y="272783"/>
              <a:ext cx="800100" cy="697800"/>
            </a:xfrm>
            <a:prstGeom prst="rect">
              <a:avLst/>
            </a:prstGeom>
            <a:noFill/>
            <a:ln>
              <a:noFill/>
            </a:ln>
          </p:spPr>
          <p:txBody>
            <a:bodyPr spcFirstLastPara="1" wrap="square" lIns="0" tIns="0" rIns="0" bIns="0" anchor="t" anchorCtr="0">
              <a:spAutoFit/>
            </a:bodyPr>
            <a:lstStyle/>
            <a:p>
              <a:pPr marL="0" marR="0" lvl="0" indent="0" algn="l" rtl="0">
                <a:lnSpc>
                  <a:spcPct val="130008"/>
                </a:lnSpc>
                <a:spcBef>
                  <a:spcPts val="0"/>
                </a:spcBef>
                <a:spcAft>
                  <a:spcPts val="0"/>
                </a:spcAft>
                <a:buNone/>
              </a:pPr>
              <a:r>
                <a:rPr lang="fr" sz="1700" b="0" i="0" u="none" strike="noStrike" cap="none">
                  <a:solidFill>
                    <a:srgbClr val="FFFFFF"/>
                  </a:solidFill>
                  <a:latin typeface="Arial"/>
                  <a:ea typeface="Arial"/>
                  <a:cs typeface="Arial"/>
                  <a:sym typeface="Arial"/>
                </a:rPr>
                <a:t>0</a:t>
              </a:r>
              <a:r>
                <a:rPr lang="fr" sz="1700">
                  <a:solidFill>
                    <a:srgbClr val="FFFFFF"/>
                  </a:solidFill>
                </a:rPr>
                <a:t>4</a:t>
              </a:r>
              <a:endParaRPr sz="700"/>
            </a:p>
          </p:txBody>
        </p:sp>
        <p:sp>
          <p:nvSpPr>
            <p:cNvPr id="324" name="Google Shape;324;p15"/>
            <p:cNvSpPr txBox="1"/>
            <p:nvPr/>
          </p:nvSpPr>
          <p:spPr>
            <a:xfrm>
              <a:off x="1462829" y="-28685"/>
              <a:ext cx="9682200" cy="2874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grpSp>
      <p:grpSp>
        <p:nvGrpSpPr>
          <p:cNvPr id="325" name="Google Shape;325;p15"/>
          <p:cNvGrpSpPr/>
          <p:nvPr/>
        </p:nvGrpSpPr>
        <p:grpSpPr>
          <a:xfrm>
            <a:off x="4724412" y="3301557"/>
            <a:ext cx="4133761" cy="261675"/>
            <a:chOff x="121400" y="319227"/>
            <a:chExt cx="11023362" cy="697800"/>
          </a:xfrm>
        </p:grpSpPr>
        <p:sp>
          <p:nvSpPr>
            <p:cNvPr id="326" name="Google Shape;326;p15"/>
            <p:cNvSpPr txBox="1"/>
            <p:nvPr/>
          </p:nvSpPr>
          <p:spPr>
            <a:xfrm>
              <a:off x="121400" y="319227"/>
              <a:ext cx="797100" cy="697800"/>
            </a:xfrm>
            <a:prstGeom prst="rect">
              <a:avLst/>
            </a:prstGeom>
            <a:noFill/>
            <a:ln>
              <a:noFill/>
            </a:ln>
          </p:spPr>
          <p:txBody>
            <a:bodyPr spcFirstLastPara="1" wrap="square" lIns="0" tIns="0" rIns="0" bIns="0" anchor="t" anchorCtr="0">
              <a:spAutoFit/>
            </a:bodyPr>
            <a:lstStyle/>
            <a:p>
              <a:pPr marL="0" marR="0" lvl="0" indent="0" algn="l" rtl="0">
                <a:lnSpc>
                  <a:spcPct val="130008"/>
                </a:lnSpc>
                <a:spcBef>
                  <a:spcPts val="0"/>
                </a:spcBef>
                <a:spcAft>
                  <a:spcPts val="0"/>
                </a:spcAft>
                <a:buNone/>
              </a:pPr>
              <a:r>
                <a:rPr lang="fr" sz="1700" b="0" i="0" u="none" strike="noStrike" cap="none">
                  <a:solidFill>
                    <a:srgbClr val="FFFFFF"/>
                  </a:solidFill>
                  <a:latin typeface="Arial"/>
                  <a:ea typeface="Arial"/>
                  <a:cs typeface="Arial"/>
                  <a:sym typeface="Arial"/>
                </a:rPr>
                <a:t>0</a:t>
              </a:r>
              <a:r>
                <a:rPr lang="fr" sz="1700">
                  <a:solidFill>
                    <a:srgbClr val="FFFFFF"/>
                  </a:solidFill>
                </a:rPr>
                <a:t>5</a:t>
              </a:r>
              <a:endParaRPr sz="700"/>
            </a:p>
          </p:txBody>
        </p:sp>
        <p:sp>
          <p:nvSpPr>
            <p:cNvPr id="327" name="Google Shape;327;p15"/>
            <p:cNvSpPr txBox="1"/>
            <p:nvPr/>
          </p:nvSpPr>
          <p:spPr>
            <a:xfrm>
              <a:off x="1462562" y="380848"/>
              <a:ext cx="9682200" cy="5745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fr">
                  <a:solidFill>
                    <a:srgbClr val="FFFFFF"/>
                  </a:solidFill>
                </a:rPr>
                <a:t>Conclusion</a:t>
              </a:r>
              <a:endParaRPr sz="700"/>
            </a:p>
          </p:txBody>
        </p:sp>
      </p:grpSp>
      <p:cxnSp>
        <p:nvCxnSpPr>
          <p:cNvPr id="328" name="Google Shape;328;p15"/>
          <p:cNvCxnSpPr/>
          <p:nvPr/>
        </p:nvCxnSpPr>
        <p:spPr>
          <a:xfrm>
            <a:off x="4701649" y="3004840"/>
            <a:ext cx="4179300" cy="0"/>
          </a:xfrm>
          <a:prstGeom prst="straightConnector1">
            <a:avLst/>
          </a:prstGeom>
          <a:noFill/>
          <a:ln w="9525" cap="rnd" cmpd="sng">
            <a:solidFill>
              <a:srgbClr val="FFFFFF"/>
            </a:solidFill>
            <a:prstDash val="solid"/>
            <a:round/>
            <a:headEnd type="none" w="sm" len="sm"/>
            <a:tailEnd type="none" w="sm" len="sm"/>
          </a:ln>
        </p:spPr>
      </p:cxnSp>
      <p:sp>
        <p:nvSpPr>
          <p:cNvPr id="329" name="Google Shape;329;p15"/>
          <p:cNvSpPr txBox="1"/>
          <p:nvPr/>
        </p:nvSpPr>
        <p:spPr>
          <a:xfrm>
            <a:off x="5110347" y="2452310"/>
            <a:ext cx="3630900" cy="215400"/>
          </a:xfrm>
          <a:prstGeom prst="rect">
            <a:avLst/>
          </a:prstGeom>
          <a:noFill/>
          <a:ln>
            <a:noFill/>
          </a:ln>
        </p:spPr>
        <p:txBody>
          <a:bodyPr spcFirstLastPara="1" wrap="square" lIns="0" tIns="0" rIns="0" bIns="0" anchor="t" anchorCtr="0">
            <a:spAutoFit/>
          </a:bodyPr>
          <a:lstStyle/>
          <a:p>
            <a:pPr marL="0" marR="0" lvl="0" indent="0" algn="l" rtl="0">
              <a:lnSpc>
                <a:spcPct val="129978"/>
              </a:lnSpc>
              <a:spcBef>
                <a:spcPts val="0"/>
              </a:spcBef>
              <a:spcAft>
                <a:spcPts val="0"/>
              </a:spcAft>
              <a:buNone/>
            </a:pPr>
            <a:r>
              <a:rPr lang="fr">
                <a:solidFill>
                  <a:srgbClr val="FFFFFF"/>
                </a:solidFill>
              </a:rPr>
              <a:t>Etude de cas</a:t>
            </a:r>
            <a:endParaRPr sz="1000"/>
          </a:p>
        </p:txBody>
      </p:sp>
      <p:sp>
        <p:nvSpPr>
          <p:cNvPr id="330" name="Google Shape;330;p15"/>
          <p:cNvSpPr/>
          <p:nvPr/>
        </p:nvSpPr>
        <p:spPr>
          <a:xfrm rot="-7917958">
            <a:off x="6207417" y="-661911"/>
            <a:ext cx="3766674" cy="2344755"/>
          </a:xfrm>
          <a:custGeom>
            <a:avLst/>
            <a:gdLst/>
            <a:ahLst/>
            <a:cxnLst/>
            <a:rect l="l" t="t" r="r" b="b"/>
            <a:pathLst>
              <a:path w="7518607" h="4680333" extrusionOk="0">
                <a:moveTo>
                  <a:pt x="0" y="0"/>
                </a:moveTo>
                <a:lnTo>
                  <a:pt x="7518607" y="0"/>
                </a:lnTo>
                <a:lnTo>
                  <a:pt x="7518607" y="4680334"/>
                </a:lnTo>
                <a:lnTo>
                  <a:pt x="0" y="4680334"/>
                </a:lnTo>
                <a:lnTo>
                  <a:pt x="0" y="0"/>
                </a:lnTo>
                <a:close/>
              </a:path>
            </a:pathLst>
          </a:custGeom>
          <a:blipFill rotWithShape="1">
            <a:blip r:embed="rId3">
              <a:alphaModFix/>
            </a:blip>
            <a:stretch>
              <a:fillRect/>
            </a:stretch>
          </a:blipFill>
          <a:ln>
            <a:noFill/>
          </a:ln>
        </p:spPr>
        <p:txBody>
          <a:bodyPr/>
          <a:lstStyle/>
          <a:p>
            <a:endParaRPr lang="fr-FR"/>
          </a:p>
        </p:txBody>
      </p:sp>
      <p:sp>
        <p:nvSpPr>
          <p:cNvPr id="331" name="Google Shape;331;p15"/>
          <p:cNvSpPr/>
          <p:nvPr/>
        </p:nvSpPr>
        <p:spPr>
          <a:xfrm rot="8100000" flipH="1">
            <a:off x="-694585" y="2897698"/>
            <a:ext cx="3890536" cy="4100697"/>
          </a:xfrm>
          <a:custGeom>
            <a:avLst/>
            <a:gdLst/>
            <a:ahLst/>
            <a:cxnLst/>
            <a:rect l="l" t="t" r="r" b="b"/>
            <a:pathLst>
              <a:path w="7804324" h="8225902" extrusionOk="0">
                <a:moveTo>
                  <a:pt x="7804325" y="0"/>
                </a:moveTo>
                <a:lnTo>
                  <a:pt x="0" y="0"/>
                </a:lnTo>
                <a:lnTo>
                  <a:pt x="0" y="8225902"/>
                </a:lnTo>
                <a:lnTo>
                  <a:pt x="7804325" y="8225902"/>
                </a:lnTo>
                <a:lnTo>
                  <a:pt x="7804325" y="0"/>
                </a:lnTo>
                <a:close/>
              </a:path>
            </a:pathLst>
          </a:custGeom>
          <a:blipFill rotWithShape="1">
            <a:blip r:embed="rId4">
              <a:alphaModFix/>
            </a:blip>
            <a:stretch>
              <a:fillRect/>
            </a:stretch>
          </a:blipFill>
          <a:ln>
            <a:noFill/>
          </a:ln>
        </p:spPr>
        <p:txBody>
          <a:bodyPr/>
          <a:lstStyle/>
          <a:p>
            <a:endParaRPr lang="fr-FR"/>
          </a:p>
        </p:txBody>
      </p:sp>
      <p:sp>
        <p:nvSpPr>
          <p:cNvPr id="332" name="Google Shape;332;p1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2A37"/>
        </a:solidFill>
        <a:effectLst/>
      </p:bgPr>
    </p:bg>
    <p:spTree>
      <p:nvGrpSpPr>
        <p:cNvPr id="1" name="Shape 336"/>
        <p:cNvGrpSpPr/>
        <p:nvPr/>
      </p:nvGrpSpPr>
      <p:grpSpPr>
        <a:xfrm>
          <a:off x="0" y="0"/>
          <a:ext cx="0" cy="0"/>
          <a:chOff x="0" y="0"/>
          <a:chExt cx="0" cy="0"/>
        </a:xfrm>
      </p:grpSpPr>
      <p:sp>
        <p:nvSpPr>
          <p:cNvPr id="337" name="Google Shape;337;p16"/>
          <p:cNvSpPr/>
          <p:nvPr/>
        </p:nvSpPr>
        <p:spPr>
          <a:xfrm>
            <a:off x="-668396" y="1624181"/>
            <a:ext cx="4412654" cy="4114800"/>
          </a:xfrm>
          <a:custGeom>
            <a:avLst/>
            <a:gdLst/>
            <a:ahLst/>
            <a:cxnLst/>
            <a:rect l="l" t="t" r="r" b="b"/>
            <a:pathLst>
              <a:path w="8825308" h="8229600" extrusionOk="0">
                <a:moveTo>
                  <a:pt x="0" y="0"/>
                </a:moveTo>
                <a:lnTo>
                  <a:pt x="8825308" y="0"/>
                </a:lnTo>
                <a:lnTo>
                  <a:pt x="8825308" y="8229600"/>
                </a:lnTo>
                <a:lnTo>
                  <a:pt x="0" y="8229600"/>
                </a:lnTo>
                <a:lnTo>
                  <a:pt x="0" y="0"/>
                </a:lnTo>
                <a:close/>
              </a:path>
            </a:pathLst>
          </a:custGeom>
          <a:blipFill rotWithShape="1">
            <a:blip r:embed="rId3">
              <a:alphaModFix/>
            </a:blip>
            <a:stretch>
              <a:fillRect/>
            </a:stretch>
          </a:blipFill>
          <a:ln>
            <a:noFill/>
          </a:ln>
        </p:spPr>
        <p:txBody>
          <a:bodyPr/>
          <a:lstStyle/>
          <a:p>
            <a:endParaRPr lang="fr-FR"/>
          </a:p>
        </p:txBody>
      </p:sp>
      <p:sp>
        <p:nvSpPr>
          <p:cNvPr id="338" name="Google Shape;338;p16"/>
          <p:cNvSpPr/>
          <p:nvPr/>
        </p:nvSpPr>
        <p:spPr>
          <a:xfrm rot="-2903874">
            <a:off x="-631387" y="-1446849"/>
            <a:ext cx="5449046" cy="4761104"/>
          </a:xfrm>
          <a:custGeom>
            <a:avLst/>
            <a:gdLst/>
            <a:ahLst/>
            <a:cxnLst/>
            <a:rect l="l" t="t" r="r" b="b"/>
            <a:pathLst>
              <a:path w="10898092" h="9522208" extrusionOk="0">
                <a:moveTo>
                  <a:pt x="0" y="0"/>
                </a:moveTo>
                <a:lnTo>
                  <a:pt x="10898093" y="0"/>
                </a:lnTo>
                <a:lnTo>
                  <a:pt x="10898093" y="9522208"/>
                </a:lnTo>
                <a:lnTo>
                  <a:pt x="0" y="9522208"/>
                </a:lnTo>
                <a:lnTo>
                  <a:pt x="0" y="0"/>
                </a:lnTo>
                <a:close/>
              </a:path>
            </a:pathLst>
          </a:custGeom>
          <a:blipFill rotWithShape="1">
            <a:blip r:embed="rId4">
              <a:alphaModFix/>
            </a:blip>
            <a:stretch>
              <a:fillRect/>
            </a:stretch>
          </a:blipFill>
          <a:ln>
            <a:noFill/>
          </a:ln>
        </p:spPr>
        <p:txBody>
          <a:bodyPr/>
          <a:lstStyle/>
          <a:p>
            <a:endParaRPr lang="fr-FR"/>
          </a:p>
        </p:txBody>
      </p:sp>
      <p:sp>
        <p:nvSpPr>
          <p:cNvPr id="339" name="Google Shape;339;p16"/>
          <p:cNvSpPr/>
          <p:nvPr/>
        </p:nvSpPr>
        <p:spPr>
          <a:xfrm>
            <a:off x="3590900" y="2270295"/>
            <a:ext cx="3370639" cy="4562624"/>
          </a:xfrm>
          <a:custGeom>
            <a:avLst/>
            <a:gdLst/>
            <a:ahLst/>
            <a:cxnLst/>
            <a:rect l="l" t="t" r="r" b="b"/>
            <a:pathLst>
              <a:path w="6741277" h="9125247" extrusionOk="0">
                <a:moveTo>
                  <a:pt x="0" y="0"/>
                </a:moveTo>
                <a:lnTo>
                  <a:pt x="6741277" y="0"/>
                </a:lnTo>
                <a:lnTo>
                  <a:pt x="6741277" y="9125247"/>
                </a:lnTo>
                <a:lnTo>
                  <a:pt x="0" y="9125247"/>
                </a:lnTo>
                <a:lnTo>
                  <a:pt x="0" y="0"/>
                </a:lnTo>
                <a:close/>
              </a:path>
            </a:pathLst>
          </a:custGeom>
          <a:blipFill rotWithShape="1">
            <a:blip r:embed="rId5">
              <a:alphaModFix/>
            </a:blip>
            <a:stretch>
              <a:fillRect/>
            </a:stretch>
          </a:blipFill>
          <a:ln>
            <a:noFill/>
          </a:ln>
        </p:spPr>
        <p:txBody>
          <a:bodyPr/>
          <a:lstStyle/>
          <a:p>
            <a:endParaRPr lang="fr-FR"/>
          </a:p>
        </p:txBody>
      </p:sp>
      <p:grpSp>
        <p:nvGrpSpPr>
          <p:cNvPr id="340" name="Google Shape;340;p16"/>
          <p:cNvGrpSpPr/>
          <p:nvPr/>
        </p:nvGrpSpPr>
        <p:grpSpPr>
          <a:xfrm>
            <a:off x="4938449" y="2135950"/>
            <a:ext cx="3691236" cy="839153"/>
            <a:chOff x="-1557896" y="274411"/>
            <a:chExt cx="9843296" cy="2237742"/>
          </a:xfrm>
        </p:grpSpPr>
        <p:sp>
          <p:nvSpPr>
            <p:cNvPr id="341" name="Google Shape;341;p16"/>
            <p:cNvSpPr txBox="1"/>
            <p:nvPr/>
          </p:nvSpPr>
          <p:spPr>
            <a:xfrm>
              <a:off x="-1557896" y="274411"/>
              <a:ext cx="9843000" cy="17238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fr" sz="4200" b="1">
                  <a:solidFill>
                    <a:schemeClr val="lt1"/>
                  </a:solidFill>
                  <a:latin typeface="Share Tech"/>
                  <a:ea typeface="Share Tech"/>
                  <a:cs typeface="Share Tech"/>
                  <a:sym typeface="Share Tech"/>
                </a:rPr>
                <a:t>01- </a:t>
              </a:r>
              <a:r>
                <a:rPr lang="fr" sz="4200" b="1">
                  <a:solidFill>
                    <a:srgbClr val="FFFFFF"/>
                  </a:solidFill>
                  <a:latin typeface="Forum"/>
                  <a:ea typeface="Forum"/>
                  <a:cs typeface="Forum"/>
                  <a:sym typeface="Forum"/>
                </a:rPr>
                <a:t>Introduction</a:t>
              </a:r>
              <a:endParaRPr sz="1500" b="1"/>
            </a:p>
          </p:txBody>
        </p:sp>
        <p:sp>
          <p:nvSpPr>
            <p:cNvPr id="342" name="Google Shape;342;p16"/>
            <p:cNvSpPr txBox="1"/>
            <p:nvPr/>
          </p:nvSpPr>
          <p:spPr>
            <a:xfrm>
              <a:off x="0" y="2224753"/>
              <a:ext cx="8285400" cy="287400"/>
            </a:xfrm>
            <a:prstGeom prst="rect">
              <a:avLst/>
            </a:prstGeom>
            <a:noFill/>
            <a:ln>
              <a:noFill/>
            </a:ln>
          </p:spPr>
          <p:txBody>
            <a:bodyPr spcFirstLastPara="1" wrap="square" lIns="0" tIns="0" rIns="0" bIns="0" anchor="t" anchorCtr="0">
              <a:spAutoFit/>
            </a:bodyPr>
            <a:lstStyle/>
            <a:p>
              <a:pPr marL="0" marR="0" lvl="0" indent="0" algn="l" rtl="0">
                <a:lnSpc>
                  <a:spcPct val="130011"/>
                </a:lnSpc>
                <a:spcBef>
                  <a:spcPts val="0"/>
                </a:spcBef>
                <a:spcAft>
                  <a:spcPts val="0"/>
                </a:spcAft>
                <a:buNone/>
              </a:pPr>
              <a:endParaRPr sz="700"/>
            </a:p>
          </p:txBody>
        </p:sp>
      </p:grpSp>
      <p:sp>
        <p:nvSpPr>
          <p:cNvPr id="343" name="Google Shape;343;p16"/>
          <p:cNvSpPr txBox="1"/>
          <p:nvPr/>
        </p:nvSpPr>
        <p:spPr>
          <a:xfrm>
            <a:off x="4445650" y="2217550"/>
            <a:ext cx="981000" cy="57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4200">
              <a:solidFill>
                <a:schemeClr val="lt1"/>
              </a:solidFill>
              <a:latin typeface="Share Tech"/>
              <a:ea typeface="Share Tech"/>
              <a:cs typeface="Share Tech"/>
              <a:sym typeface="Share Tech"/>
            </a:endParaRPr>
          </a:p>
        </p:txBody>
      </p:sp>
      <p:sp>
        <p:nvSpPr>
          <p:cNvPr id="344" name="Google Shape;344;p1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348"/>
        <p:cNvGrpSpPr/>
        <p:nvPr/>
      </p:nvGrpSpPr>
      <p:grpSpPr>
        <a:xfrm>
          <a:off x="0" y="0"/>
          <a:ext cx="0" cy="0"/>
          <a:chOff x="0" y="0"/>
          <a:chExt cx="0" cy="0"/>
        </a:xfrm>
      </p:grpSpPr>
      <p:sp>
        <p:nvSpPr>
          <p:cNvPr id="349" name="Google Shape;349;p17"/>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350" name="Google Shape;350;p17"/>
          <p:cNvSpPr txBox="1"/>
          <p:nvPr/>
        </p:nvSpPr>
        <p:spPr>
          <a:xfrm>
            <a:off x="898571" y="2848873"/>
            <a:ext cx="3743888" cy="107775"/>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351" name="Google Shape;351;p17"/>
          <p:cNvSpPr txBox="1"/>
          <p:nvPr/>
        </p:nvSpPr>
        <p:spPr>
          <a:xfrm>
            <a:off x="645875" y="1221150"/>
            <a:ext cx="73464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1600">
                <a:solidFill>
                  <a:schemeClr val="lt1"/>
                </a:solidFill>
                <a:latin typeface="Comfortaa"/>
                <a:ea typeface="Comfortaa"/>
                <a:cs typeface="Comfortaa"/>
                <a:sym typeface="Comfortaa"/>
              </a:rPr>
              <a:t>Le clustering vise à partitionner un jeu de données en plusieurs groupes regroupant des individus à comportement similaire.</a:t>
            </a:r>
            <a:endParaRPr sz="1600">
              <a:solidFill>
                <a:schemeClr val="lt1"/>
              </a:solidFill>
              <a:latin typeface="Comfortaa"/>
              <a:ea typeface="Comfortaa"/>
              <a:cs typeface="Comfortaa"/>
              <a:sym typeface="Comfortaa"/>
            </a:endParaRPr>
          </a:p>
          <a:p>
            <a:pPr marL="0" lvl="0" indent="0" algn="l" rtl="0">
              <a:spcBef>
                <a:spcPts val="0"/>
              </a:spcBef>
              <a:spcAft>
                <a:spcPts val="0"/>
              </a:spcAft>
              <a:buNone/>
            </a:pPr>
            <a:endParaRPr sz="1600">
              <a:solidFill>
                <a:schemeClr val="lt1"/>
              </a:solidFill>
              <a:latin typeface="Comfortaa"/>
              <a:ea typeface="Comfortaa"/>
              <a:cs typeface="Comfortaa"/>
              <a:sym typeface="Comfortaa"/>
            </a:endParaRPr>
          </a:p>
          <a:p>
            <a:pPr marL="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p:txBody>
      </p:sp>
      <p:sp>
        <p:nvSpPr>
          <p:cNvPr id="352" name="Google Shape;352;p17"/>
          <p:cNvSpPr txBox="1"/>
          <p:nvPr/>
        </p:nvSpPr>
        <p:spPr>
          <a:xfrm>
            <a:off x="198475" y="434675"/>
            <a:ext cx="4192800" cy="40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Clustering de trajectoires</a:t>
            </a:r>
            <a:endParaRPr sz="2100" b="1" u="sng">
              <a:solidFill>
                <a:srgbClr val="FF9900"/>
              </a:solidFill>
              <a:latin typeface="Comfortaa"/>
              <a:ea typeface="Comfortaa"/>
              <a:cs typeface="Comfortaa"/>
              <a:sym typeface="Comfortaa"/>
            </a:endParaRPr>
          </a:p>
        </p:txBody>
      </p:sp>
      <p:pic>
        <p:nvPicPr>
          <p:cNvPr id="353" name="Google Shape;353;p17"/>
          <p:cNvPicPr preferRelativeResize="0"/>
          <p:nvPr/>
        </p:nvPicPr>
        <p:blipFill>
          <a:blip r:embed="rId4">
            <a:alphaModFix/>
          </a:blip>
          <a:stretch>
            <a:fillRect/>
          </a:stretch>
        </p:blipFill>
        <p:spPr>
          <a:xfrm>
            <a:off x="1801500" y="2078525"/>
            <a:ext cx="5541000" cy="2098250"/>
          </a:xfrm>
          <a:prstGeom prst="rect">
            <a:avLst/>
          </a:prstGeom>
          <a:noFill/>
          <a:ln>
            <a:noFill/>
          </a:ln>
        </p:spPr>
      </p:pic>
      <p:sp>
        <p:nvSpPr>
          <p:cNvPr id="354" name="Google Shape;354;p17"/>
          <p:cNvSpPr txBox="1"/>
          <p:nvPr/>
        </p:nvSpPr>
        <p:spPr>
          <a:xfrm>
            <a:off x="125325" y="4176775"/>
            <a:ext cx="7956900" cy="10929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Dans notre contexte, ceci se traduit par des groupes de trajectoires qui se sont déplacées de façon similaire en se basant sur une mesure de similarité.</a:t>
            </a:r>
            <a:endParaRPr sz="1600">
              <a:solidFill>
                <a:schemeClr val="lt1"/>
              </a:solidFill>
              <a:latin typeface="Comfortaa"/>
              <a:ea typeface="Comfortaa"/>
              <a:cs typeface="Comfortaa"/>
              <a:sym typeface="Comfortaa"/>
            </a:endParaRPr>
          </a:p>
          <a:p>
            <a:pPr marL="0" lvl="0" indent="0" algn="l" rtl="0">
              <a:spcBef>
                <a:spcPts val="0"/>
              </a:spcBef>
              <a:spcAft>
                <a:spcPts val="0"/>
              </a:spcAft>
              <a:buNone/>
            </a:pPr>
            <a:endParaRPr sz="1100"/>
          </a:p>
        </p:txBody>
      </p:sp>
      <p:sp>
        <p:nvSpPr>
          <p:cNvPr id="355" name="Google Shape;355;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4"/>
                                        </p:tgtEl>
                                        <p:attrNameLst>
                                          <p:attrName>style.visibility</p:attrName>
                                        </p:attrNameLst>
                                      </p:cBhvr>
                                      <p:to>
                                        <p:strVal val="visible"/>
                                      </p:to>
                                    </p:set>
                                    <p:animEffect transition="in" filter="fade">
                                      <p:cBhvr>
                                        <p:cTn id="7" dur="1000"/>
                                        <p:tgtEl>
                                          <p:spTgt spid="354"/>
                                        </p:tgtEl>
                                      </p:cBhvr>
                                    </p:animEffect>
                                  </p:childTnLst>
                                </p:cTn>
                              </p:par>
                              <p:par>
                                <p:cTn id="8" presetID="10" presetClass="entr" presetSubtype="0" fill="hold" nodeType="withEffect">
                                  <p:stCondLst>
                                    <p:cond delay="0"/>
                                  </p:stCondLst>
                                  <p:childTnLst>
                                    <p:set>
                                      <p:cBhvr>
                                        <p:cTn id="9" dur="1" fill="hold">
                                          <p:stCondLst>
                                            <p:cond delay="0"/>
                                          </p:stCondLst>
                                        </p:cTn>
                                        <p:tgtEl>
                                          <p:spTgt spid="353"/>
                                        </p:tgtEl>
                                        <p:attrNameLst>
                                          <p:attrName>style.visibility</p:attrName>
                                        </p:attrNameLst>
                                      </p:cBhvr>
                                      <p:to>
                                        <p:strVal val="visible"/>
                                      </p:to>
                                    </p:set>
                                    <p:animEffect transition="in" filter="fade">
                                      <p:cBhvr>
                                        <p:cTn id="10" dur="1000"/>
                                        <p:tgtEl>
                                          <p:spTgt spid="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359"/>
        <p:cNvGrpSpPr/>
        <p:nvPr/>
      </p:nvGrpSpPr>
      <p:grpSpPr>
        <a:xfrm>
          <a:off x="0" y="0"/>
          <a:ext cx="0" cy="0"/>
          <a:chOff x="0" y="0"/>
          <a:chExt cx="0" cy="0"/>
        </a:xfrm>
      </p:grpSpPr>
      <p:sp>
        <p:nvSpPr>
          <p:cNvPr id="360" name="Google Shape;360;p18"/>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361" name="Google Shape;361;p18"/>
          <p:cNvSpPr txBox="1"/>
          <p:nvPr/>
        </p:nvSpPr>
        <p:spPr>
          <a:xfrm>
            <a:off x="898575" y="1026975"/>
            <a:ext cx="3744000" cy="370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Détecter quoi ? </a:t>
            </a:r>
            <a:endParaRPr sz="2100" b="1" u="sng">
              <a:solidFill>
                <a:srgbClr val="FF9900"/>
              </a:solidFill>
              <a:latin typeface="Comfortaa"/>
              <a:ea typeface="Comfortaa"/>
              <a:cs typeface="Comfortaa"/>
              <a:sym typeface="Comfortaa"/>
            </a:endParaRPr>
          </a:p>
          <a:p>
            <a:pPr marL="457200" lvl="0" indent="0" algn="l" rtl="0">
              <a:spcBef>
                <a:spcPts val="0"/>
              </a:spcBef>
              <a:spcAft>
                <a:spcPts val="0"/>
              </a:spcAft>
              <a:buNone/>
            </a:pPr>
            <a:endParaRPr sz="1600" b="1">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b="1">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Des mouvements de groupes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Des trajectoires suivant la même route</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r>
              <a:rPr lang="fr" sz="1600">
                <a:solidFill>
                  <a:schemeClr val="lt1"/>
                </a:solidFill>
                <a:latin typeface="Comfortaa"/>
                <a:ea typeface="Comfortaa"/>
                <a:cs typeface="Comfortaa"/>
                <a:sym typeface="Comfortaa"/>
              </a:rPr>
              <a:t>- Des routes classiques d’un grand nombre d’individus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r>
              <a:rPr lang="fr" sz="1600">
                <a:solidFill>
                  <a:schemeClr val="lt1"/>
                </a:solidFill>
                <a:latin typeface="Comfortaa"/>
                <a:ea typeface="Comfortaa"/>
                <a:cs typeface="Comfortaa"/>
                <a:sym typeface="Comfortaa"/>
              </a:rPr>
              <a:t>- Des mouvements courants à certaines périodes  </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Des zones de passage denses</a:t>
            </a:r>
            <a:endParaRPr sz="1600">
              <a:solidFill>
                <a:schemeClr val="lt1"/>
              </a:solidFill>
              <a:latin typeface="Comfortaa"/>
              <a:ea typeface="Comfortaa"/>
              <a:cs typeface="Comfortaa"/>
              <a:sym typeface="Comfortaa"/>
            </a:endParaRPr>
          </a:p>
        </p:txBody>
      </p:sp>
      <p:pic>
        <p:nvPicPr>
          <p:cNvPr id="362" name="Google Shape;362;p18"/>
          <p:cNvPicPr preferRelativeResize="0"/>
          <p:nvPr/>
        </p:nvPicPr>
        <p:blipFill>
          <a:blip r:embed="rId3">
            <a:alphaModFix/>
          </a:blip>
          <a:stretch>
            <a:fillRect/>
          </a:stretch>
        </p:blipFill>
        <p:spPr>
          <a:xfrm>
            <a:off x="4928625" y="836525"/>
            <a:ext cx="4024500" cy="3700575"/>
          </a:xfrm>
          <a:prstGeom prst="rect">
            <a:avLst/>
          </a:prstGeom>
          <a:noFill/>
          <a:ln>
            <a:noFill/>
          </a:ln>
        </p:spPr>
      </p:pic>
      <p:sp>
        <p:nvSpPr>
          <p:cNvPr id="363" name="Google Shape;363;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367"/>
        <p:cNvGrpSpPr/>
        <p:nvPr/>
      </p:nvGrpSpPr>
      <p:grpSpPr>
        <a:xfrm>
          <a:off x="0" y="0"/>
          <a:ext cx="0" cy="0"/>
          <a:chOff x="0" y="0"/>
          <a:chExt cx="0" cy="0"/>
        </a:xfrm>
      </p:grpSpPr>
      <p:sp>
        <p:nvSpPr>
          <p:cNvPr id="368" name="Google Shape;368;p19"/>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369" name="Google Shape;369;p19"/>
          <p:cNvSpPr txBox="1"/>
          <p:nvPr/>
        </p:nvSpPr>
        <p:spPr>
          <a:xfrm>
            <a:off x="765275" y="413775"/>
            <a:ext cx="3744000" cy="198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Regrouper quoi ?</a:t>
            </a:r>
            <a:endParaRPr sz="2100" b="1" u="sng">
              <a:solidFill>
                <a:srgbClr val="FF9900"/>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Des positions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De bouts de trajectoires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Des trajectoires</a:t>
            </a:r>
            <a:endParaRPr sz="1600">
              <a:solidFill>
                <a:schemeClr val="lt1"/>
              </a:solidFill>
              <a:latin typeface="Comfortaa"/>
              <a:ea typeface="Comfortaa"/>
              <a:cs typeface="Comfortaa"/>
              <a:sym typeface="Comfortaa"/>
            </a:endParaRPr>
          </a:p>
        </p:txBody>
      </p:sp>
      <p:pic>
        <p:nvPicPr>
          <p:cNvPr id="370" name="Google Shape;370;p19"/>
          <p:cNvPicPr preferRelativeResize="0"/>
          <p:nvPr/>
        </p:nvPicPr>
        <p:blipFill>
          <a:blip r:embed="rId3">
            <a:alphaModFix/>
          </a:blip>
          <a:stretch>
            <a:fillRect/>
          </a:stretch>
        </p:blipFill>
        <p:spPr>
          <a:xfrm>
            <a:off x="283425" y="2848875"/>
            <a:ext cx="5070325" cy="2188975"/>
          </a:xfrm>
          <a:prstGeom prst="rect">
            <a:avLst/>
          </a:prstGeom>
          <a:noFill/>
          <a:ln>
            <a:noFill/>
          </a:ln>
        </p:spPr>
      </p:pic>
      <p:pic>
        <p:nvPicPr>
          <p:cNvPr id="371" name="Google Shape;371;p19"/>
          <p:cNvPicPr preferRelativeResize="0"/>
          <p:nvPr/>
        </p:nvPicPr>
        <p:blipFill>
          <a:blip r:embed="rId4">
            <a:alphaModFix/>
          </a:blip>
          <a:stretch>
            <a:fillRect/>
          </a:stretch>
        </p:blipFill>
        <p:spPr>
          <a:xfrm>
            <a:off x="5785400" y="2797450"/>
            <a:ext cx="3141075" cy="2292675"/>
          </a:xfrm>
          <a:prstGeom prst="rect">
            <a:avLst/>
          </a:prstGeom>
          <a:noFill/>
          <a:ln>
            <a:noFill/>
          </a:ln>
        </p:spPr>
      </p:pic>
      <p:pic>
        <p:nvPicPr>
          <p:cNvPr id="372" name="Google Shape;372;p19"/>
          <p:cNvPicPr preferRelativeResize="0"/>
          <p:nvPr/>
        </p:nvPicPr>
        <p:blipFill>
          <a:blip r:embed="rId5">
            <a:alphaModFix/>
          </a:blip>
          <a:stretch>
            <a:fillRect/>
          </a:stretch>
        </p:blipFill>
        <p:spPr>
          <a:xfrm>
            <a:off x="5785400" y="232300"/>
            <a:ext cx="3141075" cy="2339450"/>
          </a:xfrm>
          <a:prstGeom prst="rect">
            <a:avLst/>
          </a:prstGeom>
          <a:noFill/>
          <a:ln>
            <a:noFill/>
          </a:ln>
        </p:spPr>
      </p:pic>
      <p:sp>
        <p:nvSpPr>
          <p:cNvPr id="373" name="Google Shape;373;p19"/>
          <p:cNvSpPr txBox="1"/>
          <p:nvPr/>
        </p:nvSpPr>
        <p:spPr>
          <a:xfrm>
            <a:off x="2207475" y="994250"/>
            <a:ext cx="21813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solidFill>
                <a:schemeClr val="dk2"/>
              </a:solidFill>
              <a:latin typeface="Nunito"/>
              <a:ea typeface="Nunito"/>
              <a:cs typeface="Nunito"/>
              <a:sym typeface="Nunito"/>
            </a:endParaRPr>
          </a:p>
        </p:txBody>
      </p:sp>
      <p:sp>
        <p:nvSpPr>
          <p:cNvPr id="374" name="Google Shape;374;p1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378"/>
        <p:cNvGrpSpPr/>
        <p:nvPr/>
      </p:nvGrpSpPr>
      <p:grpSpPr>
        <a:xfrm>
          <a:off x="0" y="0"/>
          <a:ext cx="0" cy="0"/>
          <a:chOff x="0" y="0"/>
          <a:chExt cx="0" cy="0"/>
        </a:xfrm>
      </p:grpSpPr>
      <p:sp>
        <p:nvSpPr>
          <p:cNvPr id="379" name="Google Shape;379;p20"/>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380" name="Google Shape;380;p20"/>
          <p:cNvSpPr txBox="1"/>
          <p:nvPr/>
        </p:nvSpPr>
        <p:spPr>
          <a:xfrm>
            <a:off x="780775" y="1309575"/>
            <a:ext cx="7328100" cy="198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Selon quels critères ? </a:t>
            </a: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endParaRPr sz="1600" b="1">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Proximité spatiale (Distance entre trajectoires (lignes))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Proximité spatiale et temporelle (Position au « même instant )</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Densité </a:t>
            </a:r>
            <a:endParaRPr sz="1600">
              <a:solidFill>
                <a:schemeClr val="lt1"/>
              </a:solidFill>
              <a:latin typeface="Comfortaa"/>
              <a:ea typeface="Comfortaa"/>
              <a:cs typeface="Comfortaa"/>
              <a:sym typeface="Comfortaa"/>
            </a:endParaRPr>
          </a:p>
        </p:txBody>
      </p:sp>
      <p:sp>
        <p:nvSpPr>
          <p:cNvPr id="381" name="Google Shape;381;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A37"/>
        </a:solidFill>
        <a:effectLst/>
      </p:bgPr>
    </p:bg>
    <p:spTree>
      <p:nvGrpSpPr>
        <p:cNvPr id="1" name="Shape 385"/>
        <p:cNvGrpSpPr/>
        <p:nvPr/>
      </p:nvGrpSpPr>
      <p:grpSpPr>
        <a:xfrm>
          <a:off x="0" y="0"/>
          <a:ext cx="0" cy="0"/>
          <a:chOff x="0" y="0"/>
          <a:chExt cx="0" cy="0"/>
        </a:xfrm>
      </p:grpSpPr>
      <p:sp>
        <p:nvSpPr>
          <p:cNvPr id="386" name="Google Shape;386;p21"/>
          <p:cNvSpPr/>
          <p:nvPr/>
        </p:nvSpPr>
        <p:spPr>
          <a:xfrm>
            <a:off x="-668396" y="1624181"/>
            <a:ext cx="4412654" cy="4114800"/>
          </a:xfrm>
          <a:custGeom>
            <a:avLst/>
            <a:gdLst/>
            <a:ahLst/>
            <a:cxnLst/>
            <a:rect l="l" t="t" r="r" b="b"/>
            <a:pathLst>
              <a:path w="8825308" h="8229600" extrusionOk="0">
                <a:moveTo>
                  <a:pt x="0" y="0"/>
                </a:moveTo>
                <a:lnTo>
                  <a:pt x="8825308" y="0"/>
                </a:lnTo>
                <a:lnTo>
                  <a:pt x="8825308" y="8229600"/>
                </a:lnTo>
                <a:lnTo>
                  <a:pt x="0" y="8229600"/>
                </a:lnTo>
                <a:lnTo>
                  <a:pt x="0" y="0"/>
                </a:lnTo>
                <a:close/>
              </a:path>
            </a:pathLst>
          </a:custGeom>
          <a:blipFill rotWithShape="1">
            <a:blip r:embed="rId3">
              <a:alphaModFix/>
            </a:blip>
            <a:stretch>
              <a:fillRect/>
            </a:stretch>
          </a:blipFill>
          <a:ln>
            <a:noFill/>
          </a:ln>
        </p:spPr>
        <p:txBody>
          <a:bodyPr/>
          <a:lstStyle/>
          <a:p>
            <a:endParaRPr lang="fr-FR"/>
          </a:p>
        </p:txBody>
      </p:sp>
      <p:sp>
        <p:nvSpPr>
          <p:cNvPr id="387" name="Google Shape;387;p21"/>
          <p:cNvSpPr/>
          <p:nvPr/>
        </p:nvSpPr>
        <p:spPr>
          <a:xfrm rot="-2906260">
            <a:off x="-629666" y="-1456040"/>
            <a:ext cx="5461904" cy="4772339"/>
          </a:xfrm>
          <a:custGeom>
            <a:avLst/>
            <a:gdLst/>
            <a:ahLst/>
            <a:cxnLst/>
            <a:rect l="l" t="t" r="r" b="b"/>
            <a:pathLst>
              <a:path w="10898092" h="9522208" extrusionOk="0">
                <a:moveTo>
                  <a:pt x="0" y="0"/>
                </a:moveTo>
                <a:lnTo>
                  <a:pt x="10898093" y="0"/>
                </a:lnTo>
                <a:lnTo>
                  <a:pt x="10898093" y="9522208"/>
                </a:lnTo>
                <a:lnTo>
                  <a:pt x="0" y="9522208"/>
                </a:lnTo>
                <a:lnTo>
                  <a:pt x="0" y="0"/>
                </a:lnTo>
                <a:close/>
              </a:path>
            </a:pathLst>
          </a:custGeom>
          <a:blipFill rotWithShape="1">
            <a:blip r:embed="rId4">
              <a:alphaModFix/>
            </a:blip>
            <a:stretch>
              <a:fillRect/>
            </a:stretch>
          </a:blipFill>
          <a:ln>
            <a:noFill/>
          </a:ln>
        </p:spPr>
        <p:txBody>
          <a:bodyPr/>
          <a:lstStyle/>
          <a:p>
            <a:endParaRPr lang="fr-FR"/>
          </a:p>
        </p:txBody>
      </p:sp>
      <p:sp>
        <p:nvSpPr>
          <p:cNvPr id="388" name="Google Shape;388;p21"/>
          <p:cNvSpPr/>
          <p:nvPr/>
        </p:nvSpPr>
        <p:spPr>
          <a:xfrm>
            <a:off x="3590900" y="2270295"/>
            <a:ext cx="3370639" cy="4562624"/>
          </a:xfrm>
          <a:custGeom>
            <a:avLst/>
            <a:gdLst/>
            <a:ahLst/>
            <a:cxnLst/>
            <a:rect l="l" t="t" r="r" b="b"/>
            <a:pathLst>
              <a:path w="6741277" h="9125247" extrusionOk="0">
                <a:moveTo>
                  <a:pt x="0" y="0"/>
                </a:moveTo>
                <a:lnTo>
                  <a:pt x="6741277" y="0"/>
                </a:lnTo>
                <a:lnTo>
                  <a:pt x="6741277" y="9125247"/>
                </a:lnTo>
                <a:lnTo>
                  <a:pt x="0" y="9125247"/>
                </a:lnTo>
                <a:lnTo>
                  <a:pt x="0" y="0"/>
                </a:lnTo>
                <a:close/>
              </a:path>
            </a:pathLst>
          </a:custGeom>
          <a:blipFill rotWithShape="1">
            <a:blip r:embed="rId5">
              <a:alphaModFix/>
            </a:blip>
            <a:stretch>
              <a:fillRect/>
            </a:stretch>
          </a:blipFill>
          <a:ln>
            <a:noFill/>
          </a:ln>
        </p:spPr>
        <p:txBody>
          <a:bodyPr/>
          <a:lstStyle/>
          <a:p>
            <a:endParaRPr lang="fr-FR"/>
          </a:p>
        </p:txBody>
      </p:sp>
      <p:grpSp>
        <p:nvGrpSpPr>
          <p:cNvPr id="389" name="Google Shape;389;p21"/>
          <p:cNvGrpSpPr/>
          <p:nvPr/>
        </p:nvGrpSpPr>
        <p:grpSpPr>
          <a:xfrm>
            <a:off x="5426649" y="2183238"/>
            <a:ext cx="3691125" cy="791866"/>
            <a:chOff x="-256030" y="400511"/>
            <a:chExt cx="9843000" cy="2111642"/>
          </a:xfrm>
        </p:grpSpPr>
        <p:sp>
          <p:nvSpPr>
            <p:cNvPr id="390" name="Google Shape;390;p21"/>
            <p:cNvSpPr txBox="1"/>
            <p:nvPr/>
          </p:nvSpPr>
          <p:spPr>
            <a:xfrm>
              <a:off x="-256030" y="400511"/>
              <a:ext cx="9843000" cy="17238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fr" sz="4200" b="1">
                  <a:solidFill>
                    <a:schemeClr val="lt1"/>
                  </a:solidFill>
                  <a:latin typeface="Share Tech"/>
                  <a:ea typeface="Share Tech"/>
                  <a:cs typeface="Share Tech"/>
                  <a:sym typeface="Share Tech"/>
                </a:rPr>
                <a:t>02- </a:t>
              </a:r>
              <a:r>
                <a:rPr lang="fr" sz="4200" b="1">
                  <a:solidFill>
                    <a:srgbClr val="FFFFFF"/>
                  </a:solidFill>
                  <a:latin typeface="Forum"/>
                  <a:ea typeface="Forum"/>
                  <a:cs typeface="Forum"/>
                  <a:sym typeface="Forum"/>
                </a:rPr>
                <a:t>DBSCAN</a:t>
              </a:r>
              <a:endParaRPr sz="1500" b="1"/>
            </a:p>
          </p:txBody>
        </p:sp>
        <p:sp>
          <p:nvSpPr>
            <p:cNvPr id="391" name="Google Shape;391;p21"/>
            <p:cNvSpPr txBox="1"/>
            <p:nvPr/>
          </p:nvSpPr>
          <p:spPr>
            <a:xfrm>
              <a:off x="0" y="2224753"/>
              <a:ext cx="8285400" cy="287400"/>
            </a:xfrm>
            <a:prstGeom prst="rect">
              <a:avLst/>
            </a:prstGeom>
            <a:noFill/>
            <a:ln>
              <a:noFill/>
            </a:ln>
          </p:spPr>
          <p:txBody>
            <a:bodyPr spcFirstLastPara="1" wrap="square" lIns="0" tIns="0" rIns="0" bIns="0" anchor="t" anchorCtr="0">
              <a:spAutoFit/>
            </a:bodyPr>
            <a:lstStyle/>
            <a:p>
              <a:pPr marL="0" marR="0" lvl="0" indent="0" algn="l" rtl="0">
                <a:lnSpc>
                  <a:spcPct val="130011"/>
                </a:lnSpc>
                <a:spcBef>
                  <a:spcPts val="0"/>
                </a:spcBef>
                <a:spcAft>
                  <a:spcPts val="0"/>
                </a:spcAft>
                <a:buNone/>
              </a:pPr>
              <a:endParaRPr sz="700"/>
            </a:p>
          </p:txBody>
        </p:sp>
      </p:grpSp>
      <p:sp>
        <p:nvSpPr>
          <p:cNvPr id="392" name="Google Shape;392;p21"/>
          <p:cNvSpPr txBox="1"/>
          <p:nvPr/>
        </p:nvSpPr>
        <p:spPr>
          <a:xfrm>
            <a:off x="4445650" y="2217550"/>
            <a:ext cx="981000" cy="57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4200">
              <a:solidFill>
                <a:schemeClr val="lt1"/>
              </a:solidFill>
              <a:latin typeface="Share Tech"/>
              <a:ea typeface="Share Tech"/>
              <a:cs typeface="Share Tech"/>
              <a:sym typeface="Share Tech"/>
            </a:endParaRPr>
          </a:p>
        </p:txBody>
      </p:sp>
      <p:sp>
        <p:nvSpPr>
          <p:cNvPr id="393" name="Google Shape;393;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397"/>
        <p:cNvGrpSpPr/>
        <p:nvPr/>
      </p:nvGrpSpPr>
      <p:grpSpPr>
        <a:xfrm>
          <a:off x="0" y="0"/>
          <a:ext cx="0" cy="0"/>
          <a:chOff x="0" y="0"/>
          <a:chExt cx="0" cy="0"/>
        </a:xfrm>
      </p:grpSpPr>
      <p:sp>
        <p:nvSpPr>
          <p:cNvPr id="398" name="Google Shape;398;p22"/>
          <p:cNvSpPr/>
          <p:nvPr/>
        </p:nvSpPr>
        <p:spPr>
          <a:xfrm rot="5400000">
            <a:off x="6275374" y="-686252"/>
            <a:ext cx="3888285" cy="3397389"/>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3">
              <a:alphaModFix/>
            </a:blip>
            <a:stretch>
              <a:fillRect/>
            </a:stretch>
          </a:blipFill>
          <a:ln>
            <a:noFill/>
          </a:ln>
        </p:spPr>
        <p:txBody>
          <a:bodyPr/>
          <a:lstStyle/>
          <a:p>
            <a:endParaRPr lang="fr-FR"/>
          </a:p>
        </p:txBody>
      </p:sp>
      <p:sp>
        <p:nvSpPr>
          <p:cNvPr id="399" name="Google Shape;399;p22"/>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00" name="Google Shape;400;p22"/>
          <p:cNvSpPr txBox="1"/>
          <p:nvPr/>
        </p:nvSpPr>
        <p:spPr>
          <a:xfrm>
            <a:off x="157150" y="321725"/>
            <a:ext cx="8986800" cy="2247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1800" b="1" u="sng">
                <a:solidFill>
                  <a:srgbClr val="FF9900"/>
                </a:solidFill>
                <a:latin typeface="Comfortaa"/>
                <a:ea typeface="Comfortaa"/>
                <a:cs typeface="Comfortaa"/>
                <a:sym typeface="Comfortaa"/>
              </a:rPr>
              <a:t>DBSCAN: Density-based Spatial Clustering of Applications with Noise</a:t>
            </a:r>
            <a:endParaRPr sz="1800" b="1" u="sng">
              <a:solidFill>
                <a:srgbClr val="FF9900"/>
              </a:solidFill>
              <a:latin typeface="Comfortaa"/>
              <a:ea typeface="Comfortaa"/>
              <a:cs typeface="Comfortaa"/>
              <a:sym typeface="Comfortaa"/>
            </a:endParaRPr>
          </a:p>
          <a:p>
            <a:pPr marL="0" lvl="0" indent="0" algn="l" rtl="0">
              <a:spcBef>
                <a:spcPts val="0"/>
              </a:spcBef>
              <a:spcAft>
                <a:spcPts val="0"/>
              </a:spcAft>
              <a:buNone/>
            </a:pPr>
            <a:endParaRPr sz="1600" u="sng">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Algorithme basé sur la densité</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Capable de construire des clusters de forme quelconque (différentes tailles)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Le nombre de clusters n’est pas spécifié à l’avance</a:t>
            </a:r>
            <a:endParaRPr sz="1600">
              <a:solidFill>
                <a:schemeClr val="lt1"/>
              </a:solidFill>
              <a:latin typeface="Comfortaa"/>
              <a:ea typeface="Comfortaa"/>
              <a:cs typeface="Comfortaa"/>
              <a:sym typeface="Comfortaa"/>
            </a:endParaRPr>
          </a:p>
          <a:p>
            <a:pPr marL="0" lvl="0" indent="0" algn="l" rtl="0">
              <a:spcBef>
                <a:spcPts val="0"/>
              </a:spcBef>
              <a:spcAft>
                <a:spcPts val="0"/>
              </a:spcAft>
              <a:buNone/>
            </a:pPr>
            <a:endParaRPr sz="2000">
              <a:solidFill>
                <a:schemeClr val="lt1"/>
              </a:solidFill>
              <a:latin typeface="Comfortaa"/>
              <a:ea typeface="Comfortaa"/>
              <a:cs typeface="Comfortaa"/>
              <a:sym typeface="Comfortaa"/>
            </a:endParaRPr>
          </a:p>
        </p:txBody>
      </p:sp>
      <p:pic>
        <p:nvPicPr>
          <p:cNvPr id="401" name="Google Shape;401;p22"/>
          <p:cNvPicPr preferRelativeResize="0"/>
          <p:nvPr/>
        </p:nvPicPr>
        <p:blipFill>
          <a:blip r:embed="rId4">
            <a:alphaModFix/>
          </a:blip>
          <a:stretch>
            <a:fillRect/>
          </a:stretch>
        </p:blipFill>
        <p:spPr>
          <a:xfrm>
            <a:off x="591250" y="2336875"/>
            <a:ext cx="7725700" cy="1959250"/>
          </a:xfrm>
          <a:prstGeom prst="rect">
            <a:avLst/>
          </a:prstGeom>
          <a:noFill/>
          <a:ln>
            <a:noFill/>
          </a:ln>
        </p:spPr>
      </p:pic>
      <p:sp>
        <p:nvSpPr>
          <p:cNvPr id="402" name="Google Shape;402;p22"/>
          <p:cNvSpPr txBox="1"/>
          <p:nvPr/>
        </p:nvSpPr>
        <p:spPr>
          <a:xfrm>
            <a:off x="534325" y="4460450"/>
            <a:ext cx="7944600" cy="6321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il identifie les valeurs aberrantes comme étant du bruit.</a:t>
            </a:r>
            <a:endParaRPr sz="1300">
              <a:solidFill>
                <a:schemeClr val="dk2"/>
              </a:solidFill>
              <a:latin typeface="Nunito"/>
              <a:ea typeface="Nunito"/>
              <a:cs typeface="Nunito"/>
              <a:sym typeface="Nunito"/>
            </a:endParaRPr>
          </a:p>
        </p:txBody>
      </p:sp>
      <p:sp>
        <p:nvSpPr>
          <p:cNvPr id="403" name="Google Shape;403;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07"/>
        <p:cNvGrpSpPr/>
        <p:nvPr/>
      </p:nvGrpSpPr>
      <p:grpSpPr>
        <a:xfrm>
          <a:off x="0" y="0"/>
          <a:ext cx="0" cy="0"/>
          <a:chOff x="0" y="0"/>
          <a:chExt cx="0" cy="0"/>
        </a:xfrm>
      </p:grpSpPr>
      <p:sp>
        <p:nvSpPr>
          <p:cNvPr id="408" name="Google Shape;408;p23"/>
          <p:cNvSpPr/>
          <p:nvPr/>
        </p:nvSpPr>
        <p:spPr>
          <a:xfrm rot="5400000">
            <a:off x="6275374" y="-686252"/>
            <a:ext cx="3888285" cy="3397389"/>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3">
              <a:alphaModFix/>
            </a:blip>
            <a:stretch>
              <a:fillRect/>
            </a:stretch>
          </a:blipFill>
          <a:ln>
            <a:noFill/>
          </a:ln>
        </p:spPr>
        <p:txBody>
          <a:bodyPr/>
          <a:lstStyle/>
          <a:p>
            <a:endParaRPr lang="fr-FR"/>
          </a:p>
        </p:txBody>
      </p:sp>
      <p:sp>
        <p:nvSpPr>
          <p:cNvPr id="409" name="Google Shape;409;p23"/>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10" name="Google Shape;410;p23"/>
          <p:cNvSpPr txBox="1"/>
          <p:nvPr/>
        </p:nvSpPr>
        <p:spPr>
          <a:xfrm>
            <a:off x="157150" y="321725"/>
            <a:ext cx="8196900" cy="420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Fonctionnement du DBSCAN :</a:t>
            </a: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endParaRPr sz="1600" u="sng">
              <a:solidFill>
                <a:schemeClr val="lt1"/>
              </a:solidFill>
              <a:latin typeface="Comfortaa"/>
              <a:ea typeface="Comfortaa"/>
              <a:cs typeface="Comfortaa"/>
              <a:sym typeface="Comfortaa"/>
            </a:endParaRPr>
          </a:p>
          <a:p>
            <a:pPr marL="0" lvl="0" indent="0" algn="l" rtl="0">
              <a:spcBef>
                <a:spcPts val="0"/>
              </a:spcBef>
              <a:spcAft>
                <a:spcPts val="0"/>
              </a:spcAft>
              <a:buNone/>
            </a:pPr>
            <a:endParaRPr sz="1600" u="sng">
              <a:solidFill>
                <a:schemeClr val="lt1"/>
              </a:solidFill>
              <a:latin typeface="Comfortaa"/>
              <a:ea typeface="Comfortaa"/>
              <a:cs typeface="Comfortaa"/>
              <a:sym typeface="Comfortaa"/>
            </a:endParaRPr>
          </a:p>
          <a:p>
            <a:pPr marL="0" lvl="0" indent="0" algn="l" rtl="0">
              <a:spcBef>
                <a:spcPts val="0"/>
              </a:spcBef>
              <a:spcAft>
                <a:spcPts val="0"/>
              </a:spcAft>
              <a:buNone/>
            </a:pPr>
            <a:endParaRPr sz="1600" u="sng">
              <a:solidFill>
                <a:schemeClr val="lt1"/>
              </a:solidFill>
              <a:latin typeface="Comfortaa"/>
              <a:ea typeface="Comfortaa"/>
              <a:cs typeface="Comfortaa"/>
              <a:sym typeface="Comfortaa"/>
            </a:endParaRPr>
          </a:p>
          <a:p>
            <a:pPr marL="0" lvl="0" indent="0" algn="l" rtl="0">
              <a:spcBef>
                <a:spcPts val="0"/>
              </a:spcBef>
              <a:spcAft>
                <a:spcPts val="0"/>
              </a:spcAft>
              <a:buNone/>
            </a:pPr>
            <a:endParaRPr sz="1600" u="sng">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r>
              <a:rPr lang="fr" sz="1600">
                <a:solidFill>
                  <a:schemeClr val="lt1"/>
                </a:solidFill>
                <a:latin typeface="Comfortaa"/>
                <a:ea typeface="Comfortaa"/>
                <a:cs typeface="Comfortaa"/>
                <a:sym typeface="Comfortaa"/>
              </a:rPr>
              <a:t>Le clustering DBSCAN nécessite deux paramètres :</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marR="38100" lvl="0" indent="-330200" algn="l" rtl="0">
              <a:lnSpc>
                <a:spcPct val="128571"/>
              </a:lnSpc>
              <a:spcBef>
                <a:spcPts val="0"/>
              </a:spcBef>
              <a:spcAft>
                <a:spcPts val="0"/>
              </a:spcAft>
              <a:buClr>
                <a:schemeClr val="lt1"/>
              </a:buClr>
              <a:buSzPts val="1600"/>
              <a:buFont typeface="Comfortaa"/>
              <a:buChar char="●"/>
            </a:pPr>
            <a:r>
              <a:rPr lang="fr" sz="1600" b="1" u="sng">
                <a:solidFill>
                  <a:schemeClr val="lt1"/>
                </a:solidFill>
                <a:latin typeface="Comfortaa"/>
                <a:ea typeface="Comfortaa"/>
                <a:cs typeface="Comfortaa"/>
                <a:sym typeface="Comfortaa"/>
              </a:rPr>
              <a:t>eps :</a:t>
            </a:r>
            <a:r>
              <a:rPr lang="fr" sz="1600">
                <a:solidFill>
                  <a:schemeClr val="lt1"/>
                </a:solidFill>
                <a:latin typeface="Comfortaa"/>
                <a:ea typeface="Comfortaa"/>
                <a:cs typeface="Comfortaa"/>
                <a:sym typeface="Comfortaa"/>
              </a:rPr>
              <a:t> la distance maximale entre deux trajectoires pour qu'elles soient considérées comme situées dans le même voisinage</a:t>
            </a:r>
            <a:endParaRPr sz="1600">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sz="1600">
              <a:solidFill>
                <a:schemeClr val="lt1"/>
              </a:solidFill>
              <a:latin typeface="Comfortaa"/>
              <a:ea typeface="Comfortaa"/>
              <a:cs typeface="Comfortaa"/>
              <a:sym typeface="Comfortaa"/>
            </a:endParaRPr>
          </a:p>
          <a:p>
            <a:pPr marL="457200" marR="38100" lvl="0" indent="-330200" algn="l" rtl="0">
              <a:lnSpc>
                <a:spcPct val="128571"/>
              </a:lnSpc>
              <a:spcBef>
                <a:spcPts val="0"/>
              </a:spcBef>
              <a:spcAft>
                <a:spcPts val="0"/>
              </a:spcAft>
              <a:buClr>
                <a:schemeClr val="lt1"/>
              </a:buClr>
              <a:buSzPts val="1600"/>
              <a:buFont typeface="Comfortaa"/>
              <a:buChar char="●"/>
            </a:pPr>
            <a:r>
              <a:rPr lang="fr" sz="1600" b="1" u="sng">
                <a:solidFill>
                  <a:schemeClr val="lt1"/>
                </a:solidFill>
                <a:latin typeface="Comfortaa"/>
                <a:ea typeface="Comfortaa"/>
                <a:cs typeface="Comfortaa"/>
                <a:sym typeface="Comfortaa"/>
              </a:rPr>
              <a:t>minPts </a:t>
            </a:r>
            <a:r>
              <a:rPr lang="fr" sz="1600">
                <a:solidFill>
                  <a:schemeClr val="lt1"/>
                </a:solidFill>
                <a:latin typeface="Comfortaa"/>
                <a:ea typeface="Comfortaa"/>
                <a:cs typeface="Comfortaa"/>
                <a:sym typeface="Comfortaa"/>
              </a:rPr>
              <a:t>: le nombre minimum de trajectoires regroupées dans le rayon eps.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p:txBody>
      </p:sp>
      <p:sp>
        <p:nvSpPr>
          <p:cNvPr id="411" name="Google Shape;411;p2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15"/>
        <p:cNvGrpSpPr/>
        <p:nvPr/>
      </p:nvGrpSpPr>
      <p:grpSpPr>
        <a:xfrm>
          <a:off x="0" y="0"/>
          <a:ext cx="0" cy="0"/>
          <a:chOff x="0" y="0"/>
          <a:chExt cx="0" cy="0"/>
        </a:xfrm>
      </p:grpSpPr>
      <p:sp>
        <p:nvSpPr>
          <p:cNvPr id="416" name="Google Shape;416;p24"/>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17" name="Google Shape;417;p24"/>
          <p:cNvSpPr txBox="1"/>
          <p:nvPr/>
        </p:nvSpPr>
        <p:spPr>
          <a:xfrm>
            <a:off x="780775" y="1309575"/>
            <a:ext cx="7328100" cy="2113200"/>
          </a:xfrm>
          <a:prstGeom prst="rect">
            <a:avLst/>
          </a:prstGeom>
          <a:noFill/>
          <a:ln>
            <a:noFill/>
          </a:ln>
        </p:spPr>
        <p:txBody>
          <a:bodyPr spcFirstLastPara="1" wrap="square" lIns="91425" tIns="91425" rIns="91425" bIns="91425" anchor="t" anchorCtr="0">
            <a:spAutoFit/>
          </a:bodyPr>
          <a:lstStyle/>
          <a:p>
            <a:pPr marL="0" marR="38100" lvl="0" indent="0" algn="l" rtl="0">
              <a:lnSpc>
                <a:spcPct val="128571"/>
              </a:lnSpc>
              <a:spcBef>
                <a:spcPts val="0"/>
              </a:spcBef>
              <a:spcAft>
                <a:spcPts val="0"/>
              </a:spcAft>
              <a:buNone/>
            </a:pPr>
            <a:r>
              <a:rPr lang="fr" sz="2100" b="1" u="sng">
                <a:solidFill>
                  <a:srgbClr val="FF9900"/>
                </a:solidFill>
                <a:latin typeface="Comfortaa"/>
                <a:ea typeface="Comfortaa"/>
                <a:cs typeface="Comfortaa"/>
                <a:sym typeface="Comfortaa"/>
              </a:rPr>
              <a:t>matrice de similarité :</a:t>
            </a:r>
            <a:endParaRPr sz="2100" b="1" u="sng">
              <a:solidFill>
                <a:srgbClr val="FF9900"/>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sz="1600" b="1" u="sng">
              <a:solidFill>
                <a:schemeClr val="lt1"/>
              </a:solidFill>
              <a:latin typeface="Comfortaa"/>
              <a:ea typeface="Comfortaa"/>
              <a:cs typeface="Comfortaa"/>
              <a:sym typeface="Comfortaa"/>
            </a:endParaRPr>
          </a:p>
          <a:p>
            <a:pPr marL="457200" marR="38100" lvl="0" indent="-330200" algn="l" rtl="0">
              <a:lnSpc>
                <a:spcPct val="128571"/>
              </a:lnSpc>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le DBSCAN nécessite une matrice de similarité qui quantifie la distance entre chaque paire de trajectoires dans l’ensemble de données.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b="1" u="sng">
              <a:solidFill>
                <a:schemeClr val="lt1"/>
              </a:solidFill>
              <a:latin typeface="Comfortaa"/>
              <a:ea typeface="Comfortaa"/>
              <a:cs typeface="Comfortaa"/>
              <a:sym typeface="Comfortaa"/>
            </a:endParaRPr>
          </a:p>
        </p:txBody>
      </p:sp>
      <p:sp>
        <p:nvSpPr>
          <p:cNvPr id="418" name="Google Shape;418;p2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22"/>
        <p:cNvGrpSpPr/>
        <p:nvPr/>
      </p:nvGrpSpPr>
      <p:grpSpPr>
        <a:xfrm>
          <a:off x="0" y="0"/>
          <a:ext cx="0" cy="0"/>
          <a:chOff x="0" y="0"/>
          <a:chExt cx="0" cy="0"/>
        </a:xfrm>
      </p:grpSpPr>
      <p:sp>
        <p:nvSpPr>
          <p:cNvPr id="423" name="Google Shape;423;p25"/>
          <p:cNvSpPr/>
          <p:nvPr/>
        </p:nvSpPr>
        <p:spPr>
          <a:xfrm rot="2857807">
            <a:off x="6563748" y="-793625"/>
            <a:ext cx="3894549" cy="3402862"/>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3">
              <a:alphaModFix/>
            </a:blip>
            <a:stretch>
              <a:fillRect/>
            </a:stretch>
          </a:blipFill>
          <a:ln>
            <a:noFill/>
          </a:ln>
        </p:spPr>
        <p:txBody>
          <a:bodyPr/>
          <a:lstStyle/>
          <a:p>
            <a:endParaRPr lang="fr-FR"/>
          </a:p>
        </p:txBody>
      </p:sp>
      <p:sp>
        <p:nvSpPr>
          <p:cNvPr id="424" name="Google Shape;424;p25"/>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25" name="Google Shape;425;p25"/>
          <p:cNvSpPr txBox="1"/>
          <p:nvPr/>
        </p:nvSpPr>
        <p:spPr>
          <a:xfrm>
            <a:off x="0" y="0"/>
            <a:ext cx="9313500" cy="429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Fonctionnement du DBSCAN</a:t>
            </a: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0" marR="38100" lvl="0" indent="0" algn="l" rtl="0">
              <a:lnSpc>
                <a:spcPct val="128571"/>
              </a:lnSpc>
              <a:spcBef>
                <a:spcPts val="0"/>
              </a:spcBef>
              <a:spcAft>
                <a:spcPts val="0"/>
              </a:spcAft>
              <a:buNone/>
            </a:pPr>
            <a:r>
              <a:rPr lang="fr" sz="1600">
                <a:solidFill>
                  <a:schemeClr val="lt1"/>
                </a:solidFill>
                <a:latin typeface="Comfortaa"/>
                <a:ea typeface="Comfortaa"/>
                <a:cs typeface="Comfortaa"/>
                <a:sym typeface="Comfortaa"/>
              </a:rPr>
              <a:t>L'algorithme fonctionne comme suit:</a:t>
            </a:r>
            <a:endParaRPr sz="1600">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457200" marR="38100" lvl="0" indent="-330200" algn="l" rtl="0">
              <a:lnSpc>
                <a:spcPct val="128571"/>
              </a:lnSpc>
              <a:spcBef>
                <a:spcPts val="0"/>
              </a:spcBef>
              <a:spcAft>
                <a:spcPts val="0"/>
              </a:spcAft>
              <a:buClr>
                <a:schemeClr val="lt1"/>
              </a:buClr>
              <a:buSzPts val="1600"/>
              <a:buFont typeface="Comfortaa"/>
              <a:buAutoNum type="arabicPeriod"/>
            </a:pPr>
            <a:r>
              <a:rPr lang="fr" sz="1600">
                <a:solidFill>
                  <a:schemeClr val="lt1"/>
                </a:solidFill>
                <a:latin typeface="Comfortaa"/>
                <a:ea typeface="Comfortaa"/>
                <a:cs typeface="Comfortaa"/>
                <a:sym typeface="Comfortaa"/>
              </a:rPr>
              <a:t>Pour chaque trajectoire, calculez le nombre de trajectoires voisines à une</a:t>
            </a:r>
            <a:endParaRPr sz="1600">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r>
              <a:rPr lang="fr" sz="1600">
                <a:solidFill>
                  <a:schemeClr val="lt1"/>
                </a:solidFill>
                <a:latin typeface="Comfortaa"/>
                <a:ea typeface="Comfortaa"/>
                <a:cs typeface="Comfortaa"/>
                <a:sym typeface="Comfortaa"/>
              </a:rPr>
              <a:t>distance eps, en utilisant la matrice de similarité </a:t>
            </a:r>
            <a:endParaRPr sz="1600">
              <a:solidFill>
                <a:schemeClr val="lt1"/>
              </a:solidFill>
              <a:latin typeface="Comfortaa"/>
              <a:ea typeface="Comfortaa"/>
              <a:cs typeface="Comfortaa"/>
              <a:sym typeface="Comfortaa"/>
            </a:endParaRPr>
          </a:p>
          <a:p>
            <a:pPr marL="914400" marR="38100" lvl="0" indent="0" algn="l" rtl="0">
              <a:lnSpc>
                <a:spcPct val="128571"/>
              </a:lnSpc>
              <a:spcBef>
                <a:spcPts val="0"/>
              </a:spcBef>
              <a:spcAft>
                <a:spcPts val="0"/>
              </a:spcAft>
              <a:buNone/>
            </a:pPr>
            <a:endParaRPr sz="1600">
              <a:solidFill>
                <a:schemeClr val="lt1"/>
              </a:solidFill>
              <a:latin typeface="Comfortaa"/>
              <a:ea typeface="Comfortaa"/>
              <a:cs typeface="Comfortaa"/>
              <a:sym typeface="Comfortaa"/>
            </a:endParaRPr>
          </a:p>
          <a:p>
            <a:pPr marL="45720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457200" lvl="0" indent="0" algn="l" rtl="0">
              <a:spcBef>
                <a:spcPts val="0"/>
              </a:spcBef>
              <a:spcAft>
                <a:spcPts val="0"/>
              </a:spcAft>
              <a:buNone/>
            </a:pPr>
            <a:endParaRPr>
              <a:solidFill>
                <a:schemeClr val="lt1"/>
              </a:solidFill>
              <a:latin typeface="Comfortaa"/>
              <a:ea typeface="Comfortaa"/>
              <a:cs typeface="Comfortaa"/>
              <a:sym typeface="Comfortaa"/>
            </a:endParaRPr>
          </a:p>
        </p:txBody>
      </p:sp>
      <p:sp>
        <p:nvSpPr>
          <p:cNvPr id="426" name="Google Shape;426;p2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30"/>
        <p:cNvGrpSpPr/>
        <p:nvPr/>
      </p:nvGrpSpPr>
      <p:grpSpPr>
        <a:xfrm>
          <a:off x="0" y="0"/>
          <a:ext cx="0" cy="0"/>
          <a:chOff x="0" y="0"/>
          <a:chExt cx="0" cy="0"/>
        </a:xfrm>
      </p:grpSpPr>
      <p:sp>
        <p:nvSpPr>
          <p:cNvPr id="431" name="Google Shape;431;p26"/>
          <p:cNvSpPr/>
          <p:nvPr/>
        </p:nvSpPr>
        <p:spPr>
          <a:xfrm rot="2857807">
            <a:off x="6563748" y="-793625"/>
            <a:ext cx="3894549" cy="3402862"/>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3">
              <a:alphaModFix/>
            </a:blip>
            <a:stretch>
              <a:fillRect/>
            </a:stretch>
          </a:blipFill>
          <a:ln>
            <a:noFill/>
          </a:ln>
        </p:spPr>
        <p:txBody>
          <a:bodyPr/>
          <a:lstStyle/>
          <a:p>
            <a:endParaRPr lang="fr-FR"/>
          </a:p>
        </p:txBody>
      </p:sp>
      <p:sp>
        <p:nvSpPr>
          <p:cNvPr id="432" name="Google Shape;432;p26"/>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33" name="Google Shape;433;p26"/>
          <p:cNvSpPr txBox="1"/>
          <p:nvPr/>
        </p:nvSpPr>
        <p:spPr>
          <a:xfrm>
            <a:off x="0" y="0"/>
            <a:ext cx="9313500" cy="3982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Fonctionnement du DBSCAN</a:t>
            </a: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0" marR="38100" lvl="0" indent="0" algn="l" rtl="0">
              <a:lnSpc>
                <a:spcPct val="128571"/>
              </a:lnSpc>
              <a:spcBef>
                <a:spcPts val="0"/>
              </a:spcBef>
              <a:spcAft>
                <a:spcPts val="0"/>
              </a:spcAft>
              <a:buNone/>
            </a:pPr>
            <a:r>
              <a:rPr lang="fr" sz="1600">
                <a:solidFill>
                  <a:schemeClr val="lt1"/>
                </a:solidFill>
                <a:latin typeface="Comfortaa"/>
                <a:ea typeface="Comfortaa"/>
                <a:cs typeface="Comfortaa"/>
                <a:sym typeface="Comfortaa"/>
              </a:rPr>
              <a:t>L'algorithme fonctionne comme suit:</a:t>
            </a:r>
            <a:endParaRPr sz="1600">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r>
              <a:rPr lang="fr" sz="1600">
                <a:solidFill>
                  <a:schemeClr val="lt1"/>
                </a:solidFill>
                <a:latin typeface="Comfortaa"/>
                <a:ea typeface="Comfortaa"/>
                <a:cs typeface="Comfortaa"/>
                <a:sym typeface="Comfortaa"/>
              </a:rPr>
              <a:t>2.      Marquez les trajectoires qui ont au moins minPts voisins comme trajectoires      principales, et les trajectoires qui n'ont pas de voisins comme valeurs aberrantes.</a:t>
            </a:r>
            <a:endParaRPr sz="1600">
              <a:solidFill>
                <a:schemeClr val="lt1"/>
              </a:solidFill>
              <a:latin typeface="Comfortaa"/>
              <a:ea typeface="Comfortaa"/>
              <a:cs typeface="Comfortaa"/>
              <a:sym typeface="Comfortaa"/>
            </a:endParaRPr>
          </a:p>
          <a:p>
            <a:pPr marL="45720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457200" lvl="0" indent="0" algn="l" rtl="0">
              <a:spcBef>
                <a:spcPts val="0"/>
              </a:spcBef>
              <a:spcAft>
                <a:spcPts val="0"/>
              </a:spcAft>
              <a:buNone/>
            </a:pPr>
            <a:endParaRPr>
              <a:solidFill>
                <a:schemeClr val="lt1"/>
              </a:solidFill>
              <a:latin typeface="Comfortaa"/>
              <a:ea typeface="Comfortaa"/>
              <a:cs typeface="Comfortaa"/>
              <a:sym typeface="Comfortaa"/>
            </a:endParaRPr>
          </a:p>
        </p:txBody>
      </p:sp>
      <p:sp>
        <p:nvSpPr>
          <p:cNvPr id="434" name="Google Shape;434;p2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38"/>
        <p:cNvGrpSpPr/>
        <p:nvPr/>
      </p:nvGrpSpPr>
      <p:grpSpPr>
        <a:xfrm>
          <a:off x="0" y="0"/>
          <a:ext cx="0" cy="0"/>
          <a:chOff x="0" y="0"/>
          <a:chExt cx="0" cy="0"/>
        </a:xfrm>
      </p:grpSpPr>
      <p:sp>
        <p:nvSpPr>
          <p:cNvPr id="439" name="Google Shape;439;p27"/>
          <p:cNvSpPr/>
          <p:nvPr/>
        </p:nvSpPr>
        <p:spPr>
          <a:xfrm rot="2857807">
            <a:off x="6563748" y="-793625"/>
            <a:ext cx="3894549" cy="3402862"/>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3">
              <a:alphaModFix/>
            </a:blip>
            <a:stretch>
              <a:fillRect/>
            </a:stretch>
          </a:blipFill>
          <a:ln>
            <a:noFill/>
          </a:ln>
        </p:spPr>
        <p:txBody>
          <a:bodyPr/>
          <a:lstStyle/>
          <a:p>
            <a:endParaRPr lang="fr-FR"/>
          </a:p>
        </p:txBody>
      </p:sp>
      <p:sp>
        <p:nvSpPr>
          <p:cNvPr id="440" name="Google Shape;440;p27"/>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41" name="Google Shape;441;p27"/>
          <p:cNvSpPr txBox="1"/>
          <p:nvPr/>
        </p:nvSpPr>
        <p:spPr>
          <a:xfrm>
            <a:off x="0" y="0"/>
            <a:ext cx="9313500" cy="493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r>
              <a:rPr lang="fr" sz="2100" b="1" u="sng">
                <a:solidFill>
                  <a:srgbClr val="FF9900"/>
                </a:solidFill>
                <a:latin typeface="Comfortaa"/>
                <a:ea typeface="Comfortaa"/>
                <a:cs typeface="Comfortaa"/>
                <a:sym typeface="Comfortaa"/>
              </a:rPr>
              <a:t>Fonctionnement du DBSCAN</a:t>
            </a:r>
            <a:endParaRPr sz="2100" b="1" u="sng">
              <a:solidFill>
                <a:srgbClr val="FF9900"/>
              </a:solidFill>
              <a:latin typeface="Comfortaa"/>
              <a:ea typeface="Comfortaa"/>
              <a:cs typeface="Comfortaa"/>
              <a:sym typeface="Comfortaa"/>
            </a:endParaRPr>
          </a:p>
          <a:p>
            <a:pPr marL="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0" marR="38100" lvl="0" indent="0" algn="l" rtl="0">
              <a:lnSpc>
                <a:spcPct val="128571"/>
              </a:lnSpc>
              <a:spcBef>
                <a:spcPts val="0"/>
              </a:spcBef>
              <a:spcAft>
                <a:spcPts val="0"/>
              </a:spcAft>
              <a:buNone/>
            </a:pPr>
            <a:r>
              <a:rPr lang="fr" sz="1600">
                <a:solidFill>
                  <a:schemeClr val="lt1"/>
                </a:solidFill>
                <a:latin typeface="Comfortaa"/>
                <a:ea typeface="Comfortaa"/>
                <a:cs typeface="Comfortaa"/>
                <a:sym typeface="Comfortaa"/>
              </a:rPr>
              <a:t>L'algorithme fonctionne comme suit:</a:t>
            </a:r>
            <a:endParaRPr sz="1600">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r>
              <a:rPr lang="fr" sz="1600">
                <a:solidFill>
                  <a:schemeClr val="lt1"/>
                </a:solidFill>
                <a:latin typeface="Comfortaa"/>
                <a:ea typeface="Comfortaa"/>
                <a:cs typeface="Comfortaa"/>
                <a:sym typeface="Comfortaa"/>
              </a:rPr>
              <a:t>3.      Pour chaque trajectoire centrale, recherchez toutes les trajectoires qui sont à une distance eps de celle-ci .Attribuez-les au même cluster que la trajectoire principale jusqu'à ce que toutes les trajectoires principales soient affectées à un cluster.</a:t>
            </a:r>
            <a:endParaRPr sz="1600">
              <a:solidFill>
                <a:schemeClr val="lt1"/>
              </a:solidFill>
              <a:latin typeface="Comfortaa"/>
              <a:ea typeface="Comfortaa"/>
              <a:cs typeface="Comfortaa"/>
              <a:sym typeface="Comfortaa"/>
            </a:endParaRPr>
          </a:p>
          <a:p>
            <a:pPr marL="457200" marR="38100" lvl="0" indent="0" algn="l" rtl="0">
              <a:lnSpc>
                <a:spcPct val="128571"/>
              </a:lnSpc>
              <a:spcBef>
                <a:spcPts val="0"/>
              </a:spcBef>
              <a:spcAft>
                <a:spcPts val="0"/>
              </a:spcAft>
              <a:buNone/>
            </a:pPr>
            <a:endParaRPr sz="1600">
              <a:solidFill>
                <a:schemeClr val="lt1"/>
              </a:solidFill>
              <a:latin typeface="Comfortaa"/>
              <a:ea typeface="Comfortaa"/>
              <a:cs typeface="Comfortaa"/>
              <a:sym typeface="Comfortaa"/>
            </a:endParaRPr>
          </a:p>
          <a:p>
            <a:pPr marL="45720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0" marR="38100" lvl="0" indent="0" algn="l" rtl="0">
              <a:lnSpc>
                <a:spcPct val="128571"/>
              </a:lnSpc>
              <a:spcBef>
                <a:spcPts val="0"/>
              </a:spcBef>
              <a:spcAft>
                <a:spcPts val="0"/>
              </a:spcAft>
              <a:buNone/>
            </a:pPr>
            <a:endParaRPr>
              <a:solidFill>
                <a:schemeClr val="lt1"/>
              </a:solidFill>
              <a:latin typeface="Comfortaa"/>
              <a:ea typeface="Comfortaa"/>
              <a:cs typeface="Comfortaa"/>
              <a:sym typeface="Comfortaa"/>
            </a:endParaRPr>
          </a:p>
          <a:p>
            <a:pPr marL="457200" lvl="0" indent="0" algn="l" rtl="0">
              <a:spcBef>
                <a:spcPts val="0"/>
              </a:spcBef>
              <a:spcAft>
                <a:spcPts val="0"/>
              </a:spcAft>
              <a:buNone/>
            </a:pPr>
            <a:endParaRPr>
              <a:solidFill>
                <a:schemeClr val="lt1"/>
              </a:solidFill>
              <a:latin typeface="Comfortaa"/>
              <a:ea typeface="Comfortaa"/>
              <a:cs typeface="Comfortaa"/>
              <a:sym typeface="Comfortaa"/>
            </a:endParaRPr>
          </a:p>
        </p:txBody>
      </p:sp>
      <p:sp>
        <p:nvSpPr>
          <p:cNvPr id="442" name="Google Shape;442;p2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2A37"/>
        </a:solidFill>
        <a:effectLst/>
      </p:bgPr>
    </p:bg>
    <p:spTree>
      <p:nvGrpSpPr>
        <p:cNvPr id="1" name="Shape 446"/>
        <p:cNvGrpSpPr/>
        <p:nvPr/>
      </p:nvGrpSpPr>
      <p:grpSpPr>
        <a:xfrm>
          <a:off x="0" y="0"/>
          <a:ext cx="0" cy="0"/>
          <a:chOff x="0" y="0"/>
          <a:chExt cx="0" cy="0"/>
        </a:xfrm>
      </p:grpSpPr>
      <p:sp>
        <p:nvSpPr>
          <p:cNvPr id="447" name="Google Shape;447;p28"/>
          <p:cNvSpPr/>
          <p:nvPr/>
        </p:nvSpPr>
        <p:spPr>
          <a:xfrm>
            <a:off x="-668396" y="1624181"/>
            <a:ext cx="4412654" cy="4114800"/>
          </a:xfrm>
          <a:custGeom>
            <a:avLst/>
            <a:gdLst/>
            <a:ahLst/>
            <a:cxnLst/>
            <a:rect l="l" t="t" r="r" b="b"/>
            <a:pathLst>
              <a:path w="8825308" h="8229600" extrusionOk="0">
                <a:moveTo>
                  <a:pt x="0" y="0"/>
                </a:moveTo>
                <a:lnTo>
                  <a:pt x="8825308" y="0"/>
                </a:lnTo>
                <a:lnTo>
                  <a:pt x="8825308" y="8229600"/>
                </a:lnTo>
                <a:lnTo>
                  <a:pt x="0" y="8229600"/>
                </a:lnTo>
                <a:lnTo>
                  <a:pt x="0" y="0"/>
                </a:lnTo>
                <a:close/>
              </a:path>
            </a:pathLst>
          </a:custGeom>
          <a:blipFill rotWithShape="1">
            <a:blip r:embed="rId3">
              <a:alphaModFix/>
            </a:blip>
            <a:stretch>
              <a:fillRect/>
            </a:stretch>
          </a:blipFill>
          <a:ln>
            <a:noFill/>
          </a:ln>
        </p:spPr>
        <p:txBody>
          <a:bodyPr/>
          <a:lstStyle/>
          <a:p>
            <a:endParaRPr lang="fr-FR"/>
          </a:p>
        </p:txBody>
      </p:sp>
      <p:sp>
        <p:nvSpPr>
          <p:cNvPr id="448" name="Google Shape;448;p28"/>
          <p:cNvSpPr/>
          <p:nvPr/>
        </p:nvSpPr>
        <p:spPr>
          <a:xfrm rot="-2906260">
            <a:off x="-629666" y="-1456040"/>
            <a:ext cx="5461904" cy="4772339"/>
          </a:xfrm>
          <a:custGeom>
            <a:avLst/>
            <a:gdLst/>
            <a:ahLst/>
            <a:cxnLst/>
            <a:rect l="l" t="t" r="r" b="b"/>
            <a:pathLst>
              <a:path w="10898092" h="9522208" extrusionOk="0">
                <a:moveTo>
                  <a:pt x="0" y="0"/>
                </a:moveTo>
                <a:lnTo>
                  <a:pt x="10898093" y="0"/>
                </a:lnTo>
                <a:lnTo>
                  <a:pt x="10898093" y="9522208"/>
                </a:lnTo>
                <a:lnTo>
                  <a:pt x="0" y="9522208"/>
                </a:lnTo>
                <a:lnTo>
                  <a:pt x="0" y="0"/>
                </a:lnTo>
                <a:close/>
              </a:path>
            </a:pathLst>
          </a:custGeom>
          <a:blipFill rotWithShape="1">
            <a:blip r:embed="rId4">
              <a:alphaModFix/>
            </a:blip>
            <a:stretch>
              <a:fillRect/>
            </a:stretch>
          </a:blipFill>
          <a:ln>
            <a:noFill/>
          </a:ln>
        </p:spPr>
        <p:txBody>
          <a:bodyPr/>
          <a:lstStyle/>
          <a:p>
            <a:endParaRPr lang="fr-FR"/>
          </a:p>
        </p:txBody>
      </p:sp>
      <p:sp>
        <p:nvSpPr>
          <p:cNvPr id="449" name="Google Shape;449;p28"/>
          <p:cNvSpPr/>
          <p:nvPr/>
        </p:nvSpPr>
        <p:spPr>
          <a:xfrm>
            <a:off x="3590900" y="2270295"/>
            <a:ext cx="3370639" cy="4562624"/>
          </a:xfrm>
          <a:custGeom>
            <a:avLst/>
            <a:gdLst/>
            <a:ahLst/>
            <a:cxnLst/>
            <a:rect l="l" t="t" r="r" b="b"/>
            <a:pathLst>
              <a:path w="6741277" h="9125247" extrusionOk="0">
                <a:moveTo>
                  <a:pt x="0" y="0"/>
                </a:moveTo>
                <a:lnTo>
                  <a:pt x="6741277" y="0"/>
                </a:lnTo>
                <a:lnTo>
                  <a:pt x="6741277" y="9125247"/>
                </a:lnTo>
                <a:lnTo>
                  <a:pt x="0" y="9125247"/>
                </a:lnTo>
                <a:lnTo>
                  <a:pt x="0" y="0"/>
                </a:lnTo>
                <a:close/>
              </a:path>
            </a:pathLst>
          </a:custGeom>
          <a:blipFill rotWithShape="1">
            <a:blip r:embed="rId5">
              <a:alphaModFix/>
            </a:blip>
            <a:stretch>
              <a:fillRect/>
            </a:stretch>
          </a:blipFill>
          <a:ln>
            <a:noFill/>
          </a:ln>
        </p:spPr>
        <p:txBody>
          <a:bodyPr/>
          <a:lstStyle/>
          <a:p>
            <a:endParaRPr lang="fr-FR"/>
          </a:p>
        </p:txBody>
      </p:sp>
      <p:grpSp>
        <p:nvGrpSpPr>
          <p:cNvPr id="450" name="Google Shape;450;p28"/>
          <p:cNvGrpSpPr/>
          <p:nvPr/>
        </p:nvGrpSpPr>
        <p:grpSpPr>
          <a:xfrm>
            <a:off x="5171699" y="1762950"/>
            <a:ext cx="3691125" cy="1212153"/>
            <a:chOff x="-935896" y="-720256"/>
            <a:chExt cx="9843000" cy="3232409"/>
          </a:xfrm>
        </p:grpSpPr>
        <p:sp>
          <p:nvSpPr>
            <p:cNvPr id="451" name="Google Shape;451;p28"/>
            <p:cNvSpPr txBox="1"/>
            <p:nvPr/>
          </p:nvSpPr>
          <p:spPr>
            <a:xfrm>
              <a:off x="-935896" y="-720256"/>
              <a:ext cx="9843000" cy="30702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fr" sz="3400" b="1">
                  <a:solidFill>
                    <a:schemeClr val="lt1"/>
                  </a:solidFill>
                  <a:latin typeface="Share Tech"/>
                  <a:ea typeface="Share Tech"/>
                  <a:cs typeface="Share Tech"/>
                  <a:sym typeface="Share Tech"/>
                </a:rPr>
                <a:t>03- Les différentes mesures de similarité </a:t>
              </a:r>
              <a:endParaRPr sz="700" b="1"/>
            </a:p>
          </p:txBody>
        </p:sp>
        <p:sp>
          <p:nvSpPr>
            <p:cNvPr id="452" name="Google Shape;452;p28"/>
            <p:cNvSpPr txBox="1"/>
            <p:nvPr/>
          </p:nvSpPr>
          <p:spPr>
            <a:xfrm>
              <a:off x="0" y="2224753"/>
              <a:ext cx="8285400" cy="287400"/>
            </a:xfrm>
            <a:prstGeom prst="rect">
              <a:avLst/>
            </a:prstGeom>
            <a:noFill/>
            <a:ln>
              <a:noFill/>
            </a:ln>
          </p:spPr>
          <p:txBody>
            <a:bodyPr spcFirstLastPara="1" wrap="square" lIns="0" tIns="0" rIns="0" bIns="0" anchor="t" anchorCtr="0">
              <a:spAutoFit/>
            </a:bodyPr>
            <a:lstStyle/>
            <a:p>
              <a:pPr marL="0" marR="0" lvl="0" indent="0" algn="l" rtl="0">
                <a:lnSpc>
                  <a:spcPct val="130011"/>
                </a:lnSpc>
                <a:spcBef>
                  <a:spcPts val="0"/>
                </a:spcBef>
                <a:spcAft>
                  <a:spcPts val="0"/>
                </a:spcAft>
                <a:buNone/>
              </a:pPr>
              <a:endParaRPr sz="700"/>
            </a:p>
          </p:txBody>
        </p:sp>
      </p:grpSp>
      <p:sp>
        <p:nvSpPr>
          <p:cNvPr id="453" name="Google Shape;453;p28"/>
          <p:cNvSpPr txBox="1"/>
          <p:nvPr/>
        </p:nvSpPr>
        <p:spPr>
          <a:xfrm>
            <a:off x="4445650" y="2217550"/>
            <a:ext cx="981000" cy="57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4200">
              <a:solidFill>
                <a:schemeClr val="lt1"/>
              </a:solidFill>
              <a:latin typeface="Share Tech"/>
              <a:ea typeface="Share Tech"/>
              <a:cs typeface="Share Tech"/>
              <a:sym typeface="Share Tech"/>
            </a:endParaRPr>
          </a:p>
        </p:txBody>
      </p:sp>
      <p:sp>
        <p:nvSpPr>
          <p:cNvPr id="454" name="Google Shape;454;p2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58"/>
        <p:cNvGrpSpPr/>
        <p:nvPr/>
      </p:nvGrpSpPr>
      <p:grpSpPr>
        <a:xfrm>
          <a:off x="0" y="0"/>
          <a:ext cx="0" cy="0"/>
          <a:chOff x="0" y="0"/>
          <a:chExt cx="0" cy="0"/>
        </a:xfrm>
      </p:grpSpPr>
      <p:sp>
        <p:nvSpPr>
          <p:cNvPr id="459" name="Google Shape;459;p29"/>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460" name="Google Shape;460;p29"/>
          <p:cNvSpPr/>
          <p:nvPr/>
        </p:nvSpPr>
        <p:spPr>
          <a:xfrm rot="5400000">
            <a:off x="6097599" y="2395897"/>
            <a:ext cx="3888285" cy="3397389"/>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4">
              <a:alphaModFix/>
            </a:blip>
            <a:stretch>
              <a:fillRect/>
            </a:stretch>
          </a:blipFill>
          <a:ln>
            <a:noFill/>
          </a:ln>
        </p:spPr>
        <p:txBody>
          <a:bodyPr/>
          <a:lstStyle/>
          <a:p>
            <a:endParaRPr lang="fr-FR"/>
          </a:p>
        </p:txBody>
      </p:sp>
      <p:sp>
        <p:nvSpPr>
          <p:cNvPr id="461" name="Google Shape;461;p29"/>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62" name="Google Shape;462;p29"/>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463" name="Google Shape;463;p29"/>
          <p:cNvSpPr txBox="1"/>
          <p:nvPr/>
        </p:nvSpPr>
        <p:spPr>
          <a:xfrm>
            <a:off x="174550" y="389350"/>
            <a:ext cx="5417700" cy="23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Les  mesures de la similarité :</a:t>
            </a:r>
            <a:endParaRPr sz="2100" b="1" u="sng">
              <a:solidFill>
                <a:srgbClr val="FF9900"/>
              </a:solidFill>
              <a:latin typeface="Comfortaa"/>
              <a:ea typeface="Comfortaa"/>
              <a:cs typeface="Comfortaa"/>
              <a:sym typeface="Comfortaa"/>
            </a:endParaRPr>
          </a:p>
          <a:p>
            <a:pPr marL="0" lvl="0" indent="0" algn="l" rtl="0">
              <a:lnSpc>
                <a:spcPct val="115000"/>
              </a:lnSpc>
              <a:spcBef>
                <a:spcPts val="1200"/>
              </a:spcBef>
              <a:spcAft>
                <a:spcPts val="0"/>
              </a:spcAft>
              <a:buNone/>
            </a:pPr>
            <a:r>
              <a:rPr lang="fr" sz="2100" b="1">
                <a:solidFill>
                  <a:schemeClr val="lt1"/>
                </a:solidFill>
                <a:latin typeface="Comfortaa"/>
                <a:ea typeface="Comfortaa"/>
                <a:cs typeface="Comfortaa"/>
                <a:sym typeface="Comfortaa"/>
              </a:rPr>
              <a:t>  </a:t>
            </a:r>
            <a:endParaRPr sz="2100" b="1">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2100" b="1">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r>
              <a:rPr lang="fr" sz="2100" b="1">
                <a:solidFill>
                  <a:schemeClr val="lt1"/>
                </a:solidFill>
                <a:latin typeface="Comfortaa"/>
                <a:ea typeface="Comfortaa"/>
                <a:cs typeface="Comfortaa"/>
                <a:sym typeface="Comfortaa"/>
              </a:rPr>
              <a:t> </a:t>
            </a:r>
            <a:endParaRPr sz="2100" b="1">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2100" b="1">
              <a:latin typeface="Comfortaa"/>
              <a:ea typeface="Comfortaa"/>
              <a:cs typeface="Comfortaa"/>
              <a:sym typeface="Comfortaa"/>
            </a:endParaRPr>
          </a:p>
          <a:p>
            <a:pPr marL="3657600" lvl="0" indent="0" algn="l" rtl="0">
              <a:lnSpc>
                <a:spcPct val="115000"/>
              </a:lnSpc>
              <a:spcBef>
                <a:spcPts val="1200"/>
              </a:spcBef>
              <a:spcAft>
                <a:spcPts val="0"/>
              </a:spcAft>
              <a:buNone/>
            </a:pPr>
            <a:endParaRPr sz="2100" b="1">
              <a:solidFill>
                <a:schemeClr val="lt1"/>
              </a:solidFill>
              <a:latin typeface="Comfortaa"/>
              <a:ea typeface="Comfortaa"/>
              <a:cs typeface="Comfortaa"/>
              <a:sym typeface="Comfortaa"/>
            </a:endParaRPr>
          </a:p>
          <a:p>
            <a:pPr marL="3200400" lvl="0" indent="0" algn="l" rtl="0">
              <a:lnSpc>
                <a:spcPct val="115000"/>
              </a:lnSpc>
              <a:spcBef>
                <a:spcPts val="1200"/>
              </a:spcBef>
              <a:spcAft>
                <a:spcPts val="1200"/>
              </a:spcAft>
              <a:buNone/>
            </a:pPr>
            <a:r>
              <a:rPr lang="fr" sz="2100" b="1">
                <a:solidFill>
                  <a:schemeClr val="lt1"/>
                </a:solidFill>
                <a:latin typeface="Comfortaa"/>
                <a:ea typeface="Comfortaa"/>
                <a:cs typeface="Comfortaa"/>
                <a:sym typeface="Comfortaa"/>
              </a:rPr>
              <a:t>    </a:t>
            </a:r>
            <a:endParaRPr sz="2100" b="1">
              <a:latin typeface="Comfortaa"/>
              <a:ea typeface="Comfortaa"/>
              <a:cs typeface="Comfortaa"/>
              <a:sym typeface="Comfortaa"/>
            </a:endParaRPr>
          </a:p>
        </p:txBody>
      </p:sp>
      <p:sp>
        <p:nvSpPr>
          <p:cNvPr id="464" name="Google Shape;464;p29"/>
          <p:cNvSpPr txBox="1"/>
          <p:nvPr/>
        </p:nvSpPr>
        <p:spPr>
          <a:xfrm>
            <a:off x="4151500" y="1284725"/>
            <a:ext cx="3983100" cy="3648600"/>
          </a:xfrm>
          <a:prstGeom prst="rect">
            <a:avLst/>
          </a:prstGeom>
          <a:noFill/>
          <a:ln>
            <a:noFill/>
          </a:ln>
        </p:spPr>
        <p:txBody>
          <a:bodyPr spcFirstLastPara="1" wrap="square" lIns="91425" tIns="91425" rIns="91425" bIns="91425" anchor="t" anchorCtr="0">
            <a:noAutofit/>
          </a:bodyPr>
          <a:lstStyle/>
          <a:p>
            <a:pPr marL="3200400" lvl="0" indent="0" algn="l" rtl="0">
              <a:lnSpc>
                <a:spcPct val="115000"/>
              </a:lnSpc>
              <a:spcBef>
                <a:spcPts val="1200"/>
              </a:spcBef>
              <a:spcAft>
                <a:spcPts val="0"/>
              </a:spcAft>
              <a:buNone/>
            </a:pPr>
            <a:endParaRPr sz="1500">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2"/>
              </a:solidFill>
              <a:latin typeface="Nunito"/>
              <a:ea typeface="Nunito"/>
              <a:cs typeface="Nunito"/>
              <a:sym typeface="Nunito"/>
            </a:endParaRPr>
          </a:p>
        </p:txBody>
      </p:sp>
      <p:cxnSp>
        <p:nvCxnSpPr>
          <p:cNvPr id="465" name="Google Shape;465;p29"/>
          <p:cNvCxnSpPr/>
          <p:nvPr/>
        </p:nvCxnSpPr>
        <p:spPr>
          <a:xfrm>
            <a:off x="596300" y="1354350"/>
            <a:ext cx="10500" cy="3178500"/>
          </a:xfrm>
          <a:prstGeom prst="straightConnector1">
            <a:avLst/>
          </a:prstGeom>
          <a:noFill/>
          <a:ln w="76200" cap="flat" cmpd="sng">
            <a:solidFill>
              <a:schemeClr val="dk2"/>
            </a:solidFill>
            <a:prstDash val="solid"/>
            <a:round/>
            <a:headEnd type="none" w="med" len="med"/>
            <a:tailEnd type="none" w="med" len="med"/>
          </a:ln>
        </p:spPr>
      </p:cxnSp>
      <p:cxnSp>
        <p:nvCxnSpPr>
          <p:cNvPr id="466" name="Google Shape;466;p29"/>
          <p:cNvCxnSpPr/>
          <p:nvPr/>
        </p:nvCxnSpPr>
        <p:spPr>
          <a:xfrm>
            <a:off x="617550" y="1352000"/>
            <a:ext cx="1296600" cy="0"/>
          </a:xfrm>
          <a:prstGeom prst="straightConnector1">
            <a:avLst/>
          </a:prstGeom>
          <a:noFill/>
          <a:ln w="76200" cap="flat" cmpd="sng">
            <a:solidFill>
              <a:schemeClr val="dk2"/>
            </a:solidFill>
            <a:prstDash val="solid"/>
            <a:round/>
            <a:headEnd type="none" w="med" len="med"/>
            <a:tailEnd type="triangle" w="med" len="med"/>
          </a:ln>
        </p:spPr>
      </p:cxnSp>
      <p:cxnSp>
        <p:nvCxnSpPr>
          <p:cNvPr id="467" name="Google Shape;467;p29"/>
          <p:cNvCxnSpPr/>
          <p:nvPr/>
        </p:nvCxnSpPr>
        <p:spPr>
          <a:xfrm>
            <a:off x="596300" y="4540125"/>
            <a:ext cx="1222200" cy="0"/>
          </a:xfrm>
          <a:prstGeom prst="straightConnector1">
            <a:avLst/>
          </a:prstGeom>
          <a:noFill/>
          <a:ln w="76200" cap="flat" cmpd="sng">
            <a:solidFill>
              <a:schemeClr val="dk2"/>
            </a:solidFill>
            <a:prstDash val="solid"/>
            <a:round/>
            <a:headEnd type="none" w="med" len="med"/>
            <a:tailEnd type="triangle" w="med" len="med"/>
          </a:ln>
        </p:spPr>
      </p:cxnSp>
      <p:cxnSp>
        <p:nvCxnSpPr>
          <p:cNvPr id="468" name="Google Shape;468;p29"/>
          <p:cNvCxnSpPr/>
          <p:nvPr/>
        </p:nvCxnSpPr>
        <p:spPr>
          <a:xfrm>
            <a:off x="628175" y="2308425"/>
            <a:ext cx="1190100" cy="0"/>
          </a:xfrm>
          <a:prstGeom prst="straightConnector1">
            <a:avLst/>
          </a:prstGeom>
          <a:noFill/>
          <a:ln w="76200" cap="flat" cmpd="sng">
            <a:solidFill>
              <a:schemeClr val="dk2"/>
            </a:solidFill>
            <a:prstDash val="solid"/>
            <a:round/>
            <a:headEnd type="none" w="med" len="med"/>
            <a:tailEnd type="triangle" w="med" len="med"/>
          </a:ln>
        </p:spPr>
      </p:cxnSp>
      <p:cxnSp>
        <p:nvCxnSpPr>
          <p:cNvPr id="469" name="Google Shape;469;p29"/>
          <p:cNvCxnSpPr/>
          <p:nvPr/>
        </p:nvCxnSpPr>
        <p:spPr>
          <a:xfrm>
            <a:off x="612350" y="3405300"/>
            <a:ext cx="1190100" cy="0"/>
          </a:xfrm>
          <a:prstGeom prst="straightConnector1">
            <a:avLst/>
          </a:prstGeom>
          <a:noFill/>
          <a:ln w="76200" cap="flat" cmpd="sng">
            <a:solidFill>
              <a:schemeClr val="dk2"/>
            </a:solidFill>
            <a:prstDash val="solid"/>
            <a:round/>
            <a:headEnd type="none" w="med" len="med"/>
            <a:tailEnd type="triangle" w="med" len="med"/>
          </a:ln>
        </p:spPr>
      </p:cxnSp>
      <p:sp>
        <p:nvSpPr>
          <p:cNvPr id="470" name="Google Shape;470;p29"/>
          <p:cNvSpPr txBox="1"/>
          <p:nvPr/>
        </p:nvSpPr>
        <p:spPr>
          <a:xfrm>
            <a:off x="2091750" y="1116175"/>
            <a:ext cx="3744000" cy="96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fr" sz="1600">
                <a:solidFill>
                  <a:schemeClr val="lt1"/>
                </a:solidFill>
                <a:latin typeface="Comfortaa"/>
                <a:ea typeface="Comfortaa"/>
                <a:cs typeface="Comfortaa"/>
                <a:sym typeface="Comfortaa"/>
              </a:rPr>
              <a:t>Frechet distance</a:t>
            </a:r>
            <a:endParaRPr sz="1600">
              <a:solidFill>
                <a:schemeClr val="dk2"/>
              </a:solidFill>
              <a:latin typeface="Comfortaa"/>
              <a:ea typeface="Comfortaa"/>
              <a:cs typeface="Comfortaa"/>
              <a:sym typeface="Comfortaa"/>
            </a:endParaRPr>
          </a:p>
        </p:txBody>
      </p:sp>
      <p:sp>
        <p:nvSpPr>
          <p:cNvPr id="471" name="Google Shape;471;p29"/>
          <p:cNvSpPr txBox="1"/>
          <p:nvPr/>
        </p:nvSpPr>
        <p:spPr>
          <a:xfrm>
            <a:off x="1972350" y="2077075"/>
            <a:ext cx="4370700" cy="22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fr" sz="1600">
                <a:solidFill>
                  <a:schemeClr val="lt1"/>
                </a:solidFill>
                <a:latin typeface="Comfortaa"/>
                <a:ea typeface="Comfortaa"/>
                <a:cs typeface="Comfortaa"/>
                <a:sym typeface="Comfortaa"/>
              </a:rPr>
              <a:t>Dynamic Time Warping (DTW)</a:t>
            </a:r>
            <a:endParaRPr sz="1600">
              <a:latin typeface="Comfortaa"/>
              <a:ea typeface="Comfortaa"/>
              <a:cs typeface="Comfortaa"/>
              <a:sym typeface="Comfortaa"/>
            </a:endParaRPr>
          </a:p>
        </p:txBody>
      </p:sp>
      <p:sp>
        <p:nvSpPr>
          <p:cNvPr id="472" name="Google Shape;472;p29"/>
          <p:cNvSpPr txBox="1"/>
          <p:nvPr/>
        </p:nvSpPr>
        <p:spPr>
          <a:xfrm>
            <a:off x="1944625" y="3154550"/>
            <a:ext cx="4600800" cy="38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fr" sz="1600">
                <a:solidFill>
                  <a:schemeClr val="lt1"/>
                </a:solidFill>
                <a:latin typeface="Comfortaa"/>
                <a:ea typeface="Comfortaa"/>
                <a:cs typeface="Comfortaa"/>
                <a:sym typeface="Comfortaa"/>
              </a:rPr>
              <a:t>Longest Common Sub-Sequence, (LCSS)</a:t>
            </a:r>
            <a:endParaRPr sz="1600">
              <a:solidFill>
                <a:schemeClr val="dk2"/>
              </a:solidFill>
              <a:latin typeface="Comfortaa"/>
              <a:ea typeface="Comfortaa"/>
              <a:cs typeface="Comfortaa"/>
              <a:sym typeface="Comfortaa"/>
            </a:endParaRPr>
          </a:p>
        </p:txBody>
      </p:sp>
      <p:sp>
        <p:nvSpPr>
          <p:cNvPr id="473" name="Google Shape;473;p29"/>
          <p:cNvSpPr txBox="1"/>
          <p:nvPr/>
        </p:nvSpPr>
        <p:spPr>
          <a:xfrm>
            <a:off x="1944625" y="4306275"/>
            <a:ext cx="3891000" cy="22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1600">
                <a:solidFill>
                  <a:schemeClr val="lt1"/>
                </a:solidFill>
                <a:latin typeface="Comfortaa"/>
                <a:ea typeface="Comfortaa"/>
                <a:cs typeface="Comfortaa"/>
                <a:sym typeface="Comfortaa"/>
              </a:rPr>
              <a:t>Partial Curve Mapping, (PCM)</a:t>
            </a:r>
            <a:endParaRPr sz="1600">
              <a:solidFill>
                <a:schemeClr val="lt1"/>
              </a:solidFill>
              <a:latin typeface="Comfortaa"/>
              <a:ea typeface="Comfortaa"/>
              <a:cs typeface="Comfortaa"/>
              <a:sym typeface="Comfortaa"/>
            </a:endParaRPr>
          </a:p>
          <a:p>
            <a:pPr marL="0" lvl="0" indent="0" algn="l" rtl="0">
              <a:spcBef>
                <a:spcPts val="1200"/>
              </a:spcBef>
              <a:spcAft>
                <a:spcPts val="0"/>
              </a:spcAft>
              <a:buNone/>
            </a:pPr>
            <a:endParaRPr sz="1600">
              <a:solidFill>
                <a:schemeClr val="dk2"/>
              </a:solidFill>
              <a:latin typeface="Comfortaa"/>
              <a:ea typeface="Comfortaa"/>
              <a:cs typeface="Comfortaa"/>
              <a:sym typeface="Comfortaa"/>
            </a:endParaRPr>
          </a:p>
        </p:txBody>
      </p:sp>
      <p:sp>
        <p:nvSpPr>
          <p:cNvPr id="474" name="Google Shape;474;p2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5"/>
                                        </p:tgtEl>
                                        <p:attrNameLst>
                                          <p:attrName>style.visibility</p:attrName>
                                        </p:attrNameLst>
                                      </p:cBhvr>
                                      <p:to>
                                        <p:strVal val="visible"/>
                                      </p:to>
                                    </p:set>
                                    <p:animEffect transition="in" filter="fade">
                                      <p:cBhvr>
                                        <p:cTn id="7" dur="1000"/>
                                        <p:tgtEl>
                                          <p:spTgt spid="465"/>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466"/>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47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68"/>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47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9"/>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47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67"/>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78"/>
        <p:cNvGrpSpPr/>
        <p:nvPr/>
      </p:nvGrpSpPr>
      <p:grpSpPr>
        <a:xfrm>
          <a:off x="0" y="0"/>
          <a:ext cx="0" cy="0"/>
          <a:chOff x="0" y="0"/>
          <a:chExt cx="0" cy="0"/>
        </a:xfrm>
      </p:grpSpPr>
      <p:sp>
        <p:nvSpPr>
          <p:cNvPr id="479" name="Google Shape;479;p30"/>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480" name="Google Shape;480;p30"/>
          <p:cNvSpPr/>
          <p:nvPr/>
        </p:nvSpPr>
        <p:spPr>
          <a:xfrm rot="5400000">
            <a:off x="6097599" y="2395897"/>
            <a:ext cx="3888285" cy="3397389"/>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4">
              <a:alphaModFix/>
            </a:blip>
            <a:stretch>
              <a:fillRect/>
            </a:stretch>
          </a:blipFill>
          <a:ln>
            <a:noFill/>
          </a:ln>
        </p:spPr>
        <p:txBody>
          <a:bodyPr/>
          <a:lstStyle/>
          <a:p>
            <a:endParaRPr lang="fr-FR"/>
          </a:p>
        </p:txBody>
      </p:sp>
      <p:sp>
        <p:nvSpPr>
          <p:cNvPr id="481" name="Google Shape;481;p30"/>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482" name="Google Shape;482;p30"/>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483" name="Google Shape;483;p30"/>
          <p:cNvSpPr txBox="1"/>
          <p:nvPr/>
        </p:nvSpPr>
        <p:spPr>
          <a:xfrm>
            <a:off x="174550" y="389350"/>
            <a:ext cx="5417700" cy="23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Les  mesures de la similarité :</a:t>
            </a:r>
            <a:endParaRPr sz="2100" b="1" u="sng">
              <a:solidFill>
                <a:srgbClr val="FF9900"/>
              </a:solidFill>
              <a:latin typeface="Comfortaa"/>
              <a:ea typeface="Comfortaa"/>
              <a:cs typeface="Comfortaa"/>
              <a:sym typeface="Comfortaa"/>
            </a:endParaRPr>
          </a:p>
          <a:p>
            <a:pPr marL="0" lvl="0" indent="0" algn="l" rtl="0">
              <a:lnSpc>
                <a:spcPct val="115000"/>
              </a:lnSpc>
              <a:spcBef>
                <a:spcPts val="1200"/>
              </a:spcBef>
              <a:spcAft>
                <a:spcPts val="0"/>
              </a:spcAft>
              <a:buNone/>
            </a:pPr>
            <a:r>
              <a:rPr lang="fr" sz="2100" b="1">
                <a:solidFill>
                  <a:schemeClr val="lt1"/>
                </a:solidFill>
                <a:latin typeface="Comfortaa"/>
                <a:ea typeface="Comfortaa"/>
                <a:cs typeface="Comfortaa"/>
                <a:sym typeface="Comfortaa"/>
              </a:rPr>
              <a:t>  </a:t>
            </a:r>
            <a:endParaRPr sz="2100" b="1">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2100" b="1">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r>
              <a:rPr lang="fr" sz="2100" b="1">
                <a:solidFill>
                  <a:schemeClr val="lt1"/>
                </a:solidFill>
                <a:latin typeface="Comfortaa"/>
                <a:ea typeface="Comfortaa"/>
                <a:cs typeface="Comfortaa"/>
                <a:sym typeface="Comfortaa"/>
              </a:rPr>
              <a:t> </a:t>
            </a:r>
            <a:endParaRPr sz="2100" b="1">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2100" b="1">
              <a:latin typeface="Comfortaa"/>
              <a:ea typeface="Comfortaa"/>
              <a:cs typeface="Comfortaa"/>
              <a:sym typeface="Comfortaa"/>
            </a:endParaRPr>
          </a:p>
          <a:p>
            <a:pPr marL="3657600" lvl="0" indent="0" algn="l" rtl="0">
              <a:lnSpc>
                <a:spcPct val="115000"/>
              </a:lnSpc>
              <a:spcBef>
                <a:spcPts val="1200"/>
              </a:spcBef>
              <a:spcAft>
                <a:spcPts val="0"/>
              </a:spcAft>
              <a:buNone/>
            </a:pPr>
            <a:endParaRPr sz="2100" b="1">
              <a:solidFill>
                <a:schemeClr val="lt1"/>
              </a:solidFill>
              <a:latin typeface="Comfortaa"/>
              <a:ea typeface="Comfortaa"/>
              <a:cs typeface="Comfortaa"/>
              <a:sym typeface="Comfortaa"/>
            </a:endParaRPr>
          </a:p>
          <a:p>
            <a:pPr marL="3200400" lvl="0" indent="0" algn="l" rtl="0">
              <a:lnSpc>
                <a:spcPct val="115000"/>
              </a:lnSpc>
              <a:spcBef>
                <a:spcPts val="1200"/>
              </a:spcBef>
              <a:spcAft>
                <a:spcPts val="1200"/>
              </a:spcAft>
              <a:buNone/>
            </a:pPr>
            <a:r>
              <a:rPr lang="fr" sz="2100" b="1">
                <a:solidFill>
                  <a:schemeClr val="lt1"/>
                </a:solidFill>
                <a:latin typeface="Comfortaa"/>
                <a:ea typeface="Comfortaa"/>
                <a:cs typeface="Comfortaa"/>
                <a:sym typeface="Comfortaa"/>
              </a:rPr>
              <a:t>    </a:t>
            </a:r>
            <a:endParaRPr sz="2100" b="1">
              <a:latin typeface="Comfortaa"/>
              <a:ea typeface="Comfortaa"/>
              <a:cs typeface="Comfortaa"/>
              <a:sym typeface="Comfortaa"/>
            </a:endParaRPr>
          </a:p>
        </p:txBody>
      </p:sp>
      <p:sp>
        <p:nvSpPr>
          <p:cNvPr id="484" name="Google Shape;484;p30"/>
          <p:cNvSpPr txBox="1"/>
          <p:nvPr/>
        </p:nvSpPr>
        <p:spPr>
          <a:xfrm>
            <a:off x="4151500" y="1284725"/>
            <a:ext cx="3983100" cy="3648600"/>
          </a:xfrm>
          <a:prstGeom prst="rect">
            <a:avLst/>
          </a:prstGeom>
          <a:noFill/>
          <a:ln>
            <a:noFill/>
          </a:ln>
        </p:spPr>
        <p:txBody>
          <a:bodyPr spcFirstLastPara="1" wrap="square" lIns="91425" tIns="91425" rIns="91425" bIns="91425" anchor="t" anchorCtr="0">
            <a:noAutofit/>
          </a:bodyPr>
          <a:lstStyle/>
          <a:p>
            <a:pPr marL="3200400" lvl="0" indent="0" algn="l" rtl="0">
              <a:lnSpc>
                <a:spcPct val="115000"/>
              </a:lnSpc>
              <a:spcBef>
                <a:spcPts val="1200"/>
              </a:spcBef>
              <a:spcAft>
                <a:spcPts val="0"/>
              </a:spcAft>
              <a:buNone/>
            </a:pPr>
            <a:endParaRPr sz="1500">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2"/>
              </a:solidFill>
              <a:latin typeface="Nunito"/>
              <a:ea typeface="Nunito"/>
              <a:cs typeface="Nunito"/>
              <a:sym typeface="Nunito"/>
            </a:endParaRPr>
          </a:p>
        </p:txBody>
      </p:sp>
      <p:cxnSp>
        <p:nvCxnSpPr>
          <p:cNvPr id="485" name="Google Shape;485;p30"/>
          <p:cNvCxnSpPr/>
          <p:nvPr/>
        </p:nvCxnSpPr>
        <p:spPr>
          <a:xfrm>
            <a:off x="596300" y="1354350"/>
            <a:ext cx="10500" cy="3178500"/>
          </a:xfrm>
          <a:prstGeom prst="straightConnector1">
            <a:avLst/>
          </a:prstGeom>
          <a:noFill/>
          <a:ln w="76200" cap="flat" cmpd="sng">
            <a:solidFill>
              <a:schemeClr val="dk2"/>
            </a:solidFill>
            <a:prstDash val="solid"/>
            <a:round/>
            <a:headEnd type="none" w="med" len="med"/>
            <a:tailEnd type="none" w="med" len="med"/>
          </a:ln>
        </p:spPr>
      </p:cxnSp>
      <p:cxnSp>
        <p:nvCxnSpPr>
          <p:cNvPr id="486" name="Google Shape;486;p30"/>
          <p:cNvCxnSpPr/>
          <p:nvPr/>
        </p:nvCxnSpPr>
        <p:spPr>
          <a:xfrm>
            <a:off x="617550" y="1352000"/>
            <a:ext cx="1296600" cy="0"/>
          </a:xfrm>
          <a:prstGeom prst="straightConnector1">
            <a:avLst/>
          </a:prstGeom>
          <a:noFill/>
          <a:ln w="76200" cap="flat" cmpd="sng">
            <a:solidFill>
              <a:schemeClr val="dk2"/>
            </a:solidFill>
            <a:prstDash val="solid"/>
            <a:round/>
            <a:headEnd type="none" w="med" len="med"/>
            <a:tailEnd type="triangle" w="med" len="med"/>
          </a:ln>
        </p:spPr>
      </p:cxnSp>
      <p:cxnSp>
        <p:nvCxnSpPr>
          <p:cNvPr id="487" name="Google Shape;487;p30"/>
          <p:cNvCxnSpPr/>
          <p:nvPr/>
        </p:nvCxnSpPr>
        <p:spPr>
          <a:xfrm>
            <a:off x="596300" y="4540125"/>
            <a:ext cx="1222200" cy="0"/>
          </a:xfrm>
          <a:prstGeom prst="straightConnector1">
            <a:avLst/>
          </a:prstGeom>
          <a:noFill/>
          <a:ln w="76200" cap="flat" cmpd="sng">
            <a:solidFill>
              <a:schemeClr val="dk2"/>
            </a:solidFill>
            <a:prstDash val="solid"/>
            <a:round/>
            <a:headEnd type="none" w="med" len="med"/>
            <a:tailEnd type="triangle" w="med" len="med"/>
          </a:ln>
        </p:spPr>
      </p:cxnSp>
      <p:cxnSp>
        <p:nvCxnSpPr>
          <p:cNvPr id="488" name="Google Shape;488;p30"/>
          <p:cNvCxnSpPr/>
          <p:nvPr/>
        </p:nvCxnSpPr>
        <p:spPr>
          <a:xfrm>
            <a:off x="628175" y="2308425"/>
            <a:ext cx="1190100" cy="0"/>
          </a:xfrm>
          <a:prstGeom prst="straightConnector1">
            <a:avLst/>
          </a:prstGeom>
          <a:noFill/>
          <a:ln w="76200" cap="flat" cmpd="sng">
            <a:solidFill>
              <a:schemeClr val="dk2"/>
            </a:solidFill>
            <a:prstDash val="solid"/>
            <a:round/>
            <a:headEnd type="none" w="med" len="med"/>
            <a:tailEnd type="triangle" w="med" len="med"/>
          </a:ln>
        </p:spPr>
      </p:cxnSp>
      <p:cxnSp>
        <p:nvCxnSpPr>
          <p:cNvPr id="489" name="Google Shape;489;p30"/>
          <p:cNvCxnSpPr/>
          <p:nvPr/>
        </p:nvCxnSpPr>
        <p:spPr>
          <a:xfrm>
            <a:off x="612350" y="3405300"/>
            <a:ext cx="1190100" cy="0"/>
          </a:xfrm>
          <a:prstGeom prst="straightConnector1">
            <a:avLst/>
          </a:prstGeom>
          <a:noFill/>
          <a:ln w="76200" cap="flat" cmpd="sng">
            <a:solidFill>
              <a:schemeClr val="dk2"/>
            </a:solidFill>
            <a:prstDash val="solid"/>
            <a:round/>
            <a:headEnd type="none" w="med" len="med"/>
            <a:tailEnd type="triangle" w="med" len="med"/>
          </a:ln>
        </p:spPr>
      </p:cxnSp>
      <p:sp>
        <p:nvSpPr>
          <p:cNvPr id="490" name="Google Shape;490;p30"/>
          <p:cNvSpPr txBox="1"/>
          <p:nvPr/>
        </p:nvSpPr>
        <p:spPr>
          <a:xfrm>
            <a:off x="2091750" y="1116175"/>
            <a:ext cx="3744000" cy="96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1600">
                <a:solidFill>
                  <a:schemeClr val="lt1"/>
                </a:solidFill>
                <a:latin typeface="Comfortaa"/>
                <a:ea typeface="Comfortaa"/>
                <a:cs typeface="Comfortaa"/>
                <a:sym typeface="Comfortaa"/>
              </a:rPr>
              <a:t>Area between two curves</a:t>
            </a:r>
            <a:endParaRPr sz="1600">
              <a:solidFill>
                <a:schemeClr val="dk2"/>
              </a:solidFill>
              <a:latin typeface="Comfortaa"/>
              <a:ea typeface="Comfortaa"/>
              <a:cs typeface="Comfortaa"/>
              <a:sym typeface="Comfortaa"/>
            </a:endParaRPr>
          </a:p>
          <a:p>
            <a:pPr marL="0" lvl="0" indent="0" algn="l" rtl="0">
              <a:lnSpc>
                <a:spcPct val="115000"/>
              </a:lnSpc>
              <a:spcBef>
                <a:spcPts val="1200"/>
              </a:spcBef>
              <a:spcAft>
                <a:spcPts val="1200"/>
              </a:spcAft>
              <a:buNone/>
            </a:pPr>
            <a:endParaRPr sz="1600">
              <a:solidFill>
                <a:schemeClr val="lt1"/>
              </a:solidFill>
              <a:latin typeface="Comfortaa"/>
              <a:ea typeface="Comfortaa"/>
              <a:cs typeface="Comfortaa"/>
              <a:sym typeface="Comfortaa"/>
            </a:endParaRPr>
          </a:p>
        </p:txBody>
      </p:sp>
      <p:sp>
        <p:nvSpPr>
          <p:cNvPr id="491" name="Google Shape;491;p30"/>
          <p:cNvSpPr txBox="1"/>
          <p:nvPr/>
        </p:nvSpPr>
        <p:spPr>
          <a:xfrm>
            <a:off x="1972350" y="2077075"/>
            <a:ext cx="4370700" cy="22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1600">
                <a:solidFill>
                  <a:schemeClr val="lt1"/>
                </a:solidFill>
                <a:latin typeface="Comfortaa"/>
                <a:ea typeface="Comfortaa"/>
                <a:cs typeface="Comfortaa"/>
                <a:sym typeface="Comfortaa"/>
              </a:rPr>
              <a:t>Hausdorff Manhattan Distance</a:t>
            </a:r>
            <a:endParaRPr sz="1600">
              <a:latin typeface="Comfortaa"/>
              <a:ea typeface="Comfortaa"/>
              <a:cs typeface="Comfortaa"/>
              <a:sym typeface="Comfortaa"/>
            </a:endParaRPr>
          </a:p>
          <a:p>
            <a:pPr marL="0" lvl="0" indent="0" algn="l" rtl="0">
              <a:lnSpc>
                <a:spcPct val="115000"/>
              </a:lnSpc>
              <a:spcBef>
                <a:spcPts val="1200"/>
              </a:spcBef>
              <a:spcAft>
                <a:spcPts val="1200"/>
              </a:spcAft>
              <a:buNone/>
            </a:pPr>
            <a:endParaRPr sz="1600">
              <a:solidFill>
                <a:schemeClr val="lt1"/>
              </a:solidFill>
              <a:latin typeface="Comfortaa"/>
              <a:ea typeface="Comfortaa"/>
              <a:cs typeface="Comfortaa"/>
              <a:sym typeface="Comfortaa"/>
            </a:endParaRPr>
          </a:p>
        </p:txBody>
      </p:sp>
      <p:sp>
        <p:nvSpPr>
          <p:cNvPr id="492" name="Google Shape;492;p30"/>
          <p:cNvSpPr txBox="1"/>
          <p:nvPr/>
        </p:nvSpPr>
        <p:spPr>
          <a:xfrm>
            <a:off x="1944625" y="3154550"/>
            <a:ext cx="4600800" cy="38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1600">
                <a:solidFill>
                  <a:schemeClr val="lt1"/>
                </a:solidFill>
                <a:latin typeface="Comfortaa"/>
                <a:ea typeface="Comfortaa"/>
                <a:cs typeface="Comfortaa"/>
                <a:sym typeface="Comfortaa"/>
              </a:rPr>
              <a:t>Hausdorff Euclidean distance</a:t>
            </a:r>
            <a:endParaRPr sz="1600">
              <a:solidFill>
                <a:schemeClr val="dk2"/>
              </a:solidFill>
              <a:latin typeface="Comfortaa"/>
              <a:ea typeface="Comfortaa"/>
              <a:cs typeface="Comfortaa"/>
              <a:sym typeface="Comfortaa"/>
            </a:endParaRPr>
          </a:p>
          <a:p>
            <a:pPr marL="0" lvl="0" indent="0" algn="l" rtl="0">
              <a:lnSpc>
                <a:spcPct val="115000"/>
              </a:lnSpc>
              <a:spcBef>
                <a:spcPts val="1200"/>
              </a:spcBef>
              <a:spcAft>
                <a:spcPts val="1200"/>
              </a:spcAft>
              <a:buNone/>
            </a:pPr>
            <a:endParaRPr sz="1600">
              <a:solidFill>
                <a:schemeClr val="lt1"/>
              </a:solidFill>
              <a:latin typeface="Comfortaa"/>
              <a:ea typeface="Comfortaa"/>
              <a:cs typeface="Comfortaa"/>
              <a:sym typeface="Comfortaa"/>
            </a:endParaRPr>
          </a:p>
        </p:txBody>
      </p:sp>
      <p:sp>
        <p:nvSpPr>
          <p:cNvPr id="493" name="Google Shape;493;p30"/>
          <p:cNvSpPr txBox="1"/>
          <p:nvPr/>
        </p:nvSpPr>
        <p:spPr>
          <a:xfrm>
            <a:off x="1944625" y="4306275"/>
            <a:ext cx="3891000" cy="22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1600">
                <a:solidFill>
                  <a:schemeClr val="lt1"/>
                </a:solidFill>
                <a:latin typeface="Comfortaa"/>
                <a:ea typeface="Comfortaa"/>
                <a:cs typeface="Comfortaa"/>
                <a:sym typeface="Comfortaa"/>
              </a:rPr>
              <a:t>Hausdorff Chebyshev distance</a:t>
            </a:r>
            <a:endParaRPr sz="1600">
              <a:solidFill>
                <a:schemeClr val="dk2"/>
              </a:solidFill>
              <a:latin typeface="Comfortaa"/>
              <a:ea typeface="Comfortaa"/>
              <a:cs typeface="Comfortaa"/>
              <a:sym typeface="Comfortaa"/>
            </a:endParaRPr>
          </a:p>
          <a:p>
            <a:pPr marL="0" lvl="0" indent="0" algn="l" rtl="0">
              <a:spcBef>
                <a:spcPts val="1200"/>
              </a:spcBef>
              <a:spcAft>
                <a:spcPts val="0"/>
              </a:spcAft>
              <a:buNone/>
            </a:pPr>
            <a:endParaRPr sz="1600">
              <a:solidFill>
                <a:schemeClr val="lt1"/>
              </a:solidFill>
              <a:latin typeface="Comfortaa"/>
              <a:ea typeface="Comfortaa"/>
              <a:cs typeface="Comfortaa"/>
              <a:sym typeface="Comfortaa"/>
            </a:endParaRPr>
          </a:p>
        </p:txBody>
      </p:sp>
      <p:sp>
        <p:nvSpPr>
          <p:cNvPr id="494" name="Google Shape;494;p3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animEffect transition="in" filter="fade">
                                      <p:cBhvr>
                                        <p:cTn id="7" dur="1000"/>
                                        <p:tgtEl>
                                          <p:spTgt spid="485"/>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486"/>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49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88"/>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49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89"/>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49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87"/>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498"/>
        <p:cNvGrpSpPr/>
        <p:nvPr/>
      </p:nvGrpSpPr>
      <p:grpSpPr>
        <a:xfrm>
          <a:off x="0" y="0"/>
          <a:ext cx="0" cy="0"/>
          <a:chOff x="0" y="0"/>
          <a:chExt cx="0" cy="0"/>
        </a:xfrm>
      </p:grpSpPr>
      <p:sp>
        <p:nvSpPr>
          <p:cNvPr id="499" name="Google Shape;499;p31"/>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00" name="Google Shape;500;p31"/>
          <p:cNvSpPr/>
          <p:nvPr/>
        </p:nvSpPr>
        <p:spPr>
          <a:xfrm rot="5400000">
            <a:off x="6097599" y="2395897"/>
            <a:ext cx="3888285" cy="3397389"/>
          </a:xfrm>
          <a:custGeom>
            <a:avLst/>
            <a:gdLst/>
            <a:ahLst/>
            <a:cxnLst/>
            <a:rect l="l" t="t" r="r" b="b"/>
            <a:pathLst>
              <a:path w="7776569" h="6794777" extrusionOk="0">
                <a:moveTo>
                  <a:pt x="0" y="0"/>
                </a:moveTo>
                <a:lnTo>
                  <a:pt x="7776569" y="0"/>
                </a:lnTo>
                <a:lnTo>
                  <a:pt x="7776569" y="6794777"/>
                </a:lnTo>
                <a:lnTo>
                  <a:pt x="0" y="6794777"/>
                </a:lnTo>
                <a:lnTo>
                  <a:pt x="0" y="0"/>
                </a:lnTo>
                <a:close/>
              </a:path>
            </a:pathLst>
          </a:custGeom>
          <a:blipFill rotWithShape="1">
            <a:blip r:embed="rId4">
              <a:alphaModFix/>
            </a:blip>
            <a:stretch>
              <a:fillRect/>
            </a:stretch>
          </a:blipFill>
          <a:ln>
            <a:noFill/>
          </a:ln>
        </p:spPr>
        <p:txBody>
          <a:bodyPr/>
          <a:lstStyle/>
          <a:p>
            <a:endParaRPr lang="fr-FR"/>
          </a:p>
        </p:txBody>
      </p:sp>
      <p:sp>
        <p:nvSpPr>
          <p:cNvPr id="501" name="Google Shape;501;p31"/>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02" name="Google Shape;502;p31"/>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03" name="Google Shape;503;p31"/>
          <p:cNvSpPr txBox="1"/>
          <p:nvPr/>
        </p:nvSpPr>
        <p:spPr>
          <a:xfrm>
            <a:off x="174550" y="389350"/>
            <a:ext cx="4660500" cy="23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2100" u="sng">
                <a:solidFill>
                  <a:srgbClr val="FF9900"/>
                </a:solidFill>
                <a:latin typeface="Comfortaa"/>
                <a:ea typeface="Comfortaa"/>
                <a:cs typeface="Comfortaa"/>
                <a:sym typeface="Comfortaa"/>
              </a:rPr>
              <a:t>Les  mesures de la similarité :</a:t>
            </a:r>
            <a:endParaRPr sz="2100" u="sng">
              <a:solidFill>
                <a:srgbClr val="FF9900"/>
              </a:solidFill>
              <a:latin typeface="Comfortaa"/>
              <a:ea typeface="Comfortaa"/>
              <a:cs typeface="Comfortaa"/>
              <a:sym typeface="Comfortaa"/>
            </a:endParaRPr>
          </a:p>
          <a:p>
            <a:pPr marL="0" lvl="0" indent="0" algn="l" rtl="0">
              <a:lnSpc>
                <a:spcPct val="115000"/>
              </a:lnSpc>
              <a:spcBef>
                <a:spcPts val="1200"/>
              </a:spcBef>
              <a:spcAft>
                <a:spcPts val="0"/>
              </a:spcAft>
              <a:buNone/>
            </a:pPr>
            <a:r>
              <a:rPr lang="fr" sz="2100">
                <a:solidFill>
                  <a:schemeClr val="lt1"/>
                </a:solidFill>
                <a:latin typeface="Comfortaa"/>
                <a:ea typeface="Comfortaa"/>
                <a:cs typeface="Comfortaa"/>
                <a:sym typeface="Comfortaa"/>
              </a:rPr>
              <a:t>  </a:t>
            </a:r>
            <a:endParaRPr sz="2100">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2100">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r>
              <a:rPr lang="fr" sz="2100">
                <a:solidFill>
                  <a:schemeClr val="lt1"/>
                </a:solidFill>
                <a:latin typeface="Comfortaa"/>
                <a:ea typeface="Comfortaa"/>
                <a:cs typeface="Comfortaa"/>
                <a:sym typeface="Comfortaa"/>
              </a:rPr>
              <a:t> </a:t>
            </a:r>
            <a:endParaRPr sz="2100">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2100">
              <a:latin typeface="Comfortaa"/>
              <a:ea typeface="Comfortaa"/>
              <a:cs typeface="Comfortaa"/>
              <a:sym typeface="Comfortaa"/>
            </a:endParaRPr>
          </a:p>
          <a:p>
            <a:pPr marL="3657600" lvl="0" indent="0" algn="l" rtl="0">
              <a:lnSpc>
                <a:spcPct val="115000"/>
              </a:lnSpc>
              <a:spcBef>
                <a:spcPts val="1200"/>
              </a:spcBef>
              <a:spcAft>
                <a:spcPts val="0"/>
              </a:spcAft>
              <a:buNone/>
            </a:pPr>
            <a:endParaRPr sz="2100">
              <a:solidFill>
                <a:schemeClr val="lt1"/>
              </a:solidFill>
              <a:latin typeface="Comfortaa"/>
              <a:ea typeface="Comfortaa"/>
              <a:cs typeface="Comfortaa"/>
              <a:sym typeface="Comfortaa"/>
            </a:endParaRPr>
          </a:p>
          <a:p>
            <a:pPr marL="3200400" lvl="0" indent="0" algn="l" rtl="0">
              <a:lnSpc>
                <a:spcPct val="115000"/>
              </a:lnSpc>
              <a:spcBef>
                <a:spcPts val="1200"/>
              </a:spcBef>
              <a:spcAft>
                <a:spcPts val="1200"/>
              </a:spcAft>
              <a:buNone/>
            </a:pPr>
            <a:r>
              <a:rPr lang="fr" sz="2100">
                <a:solidFill>
                  <a:schemeClr val="lt1"/>
                </a:solidFill>
                <a:latin typeface="Comfortaa"/>
                <a:ea typeface="Comfortaa"/>
                <a:cs typeface="Comfortaa"/>
                <a:sym typeface="Comfortaa"/>
              </a:rPr>
              <a:t>    </a:t>
            </a:r>
            <a:endParaRPr sz="2100">
              <a:latin typeface="Comfortaa"/>
              <a:ea typeface="Comfortaa"/>
              <a:cs typeface="Comfortaa"/>
              <a:sym typeface="Comfortaa"/>
            </a:endParaRPr>
          </a:p>
        </p:txBody>
      </p:sp>
      <p:sp>
        <p:nvSpPr>
          <p:cNvPr id="504" name="Google Shape;504;p31"/>
          <p:cNvSpPr txBox="1"/>
          <p:nvPr/>
        </p:nvSpPr>
        <p:spPr>
          <a:xfrm>
            <a:off x="4151500" y="1284725"/>
            <a:ext cx="3983100" cy="3648600"/>
          </a:xfrm>
          <a:prstGeom prst="rect">
            <a:avLst/>
          </a:prstGeom>
          <a:noFill/>
          <a:ln>
            <a:noFill/>
          </a:ln>
        </p:spPr>
        <p:txBody>
          <a:bodyPr spcFirstLastPara="1" wrap="square" lIns="91425" tIns="91425" rIns="91425" bIns="91425" anchor="t" anchorCtr="0">
            <a:noAutofit/>
          </a:bodyPr>
          <a:lstStyle/>
          <a:p>
            <a:pPr marL="3200400" lvl="0" indent="0" algn="l" rtl="0">
              <a:lnSpc>
                <a:spcPct val="115000"/>
              </a:lnSpc>
              <a:spcBef>
                <a:spcPts val="1200"/>
              </a:spcBef>
              <a:spcAft>
                <a:spcPts val="0"/>
              </a:spcAft>
              <a:buNone/>
            </a:pPr>
            <a:endParaRPr sz="1500">
              <a:solidFill>
                <a:schemeClr val="lt1"/>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2"/>
              </a:solidFill>
              <a:latin typeface="Nunito"/>
              <a:ea typeface="Nunito"/>
              <a:cs typeface="Nunito"/>
              <a:sym typeface="Nunito"/>
            </a:endParaRPr>
          </a:p>
        </p:txBody>
      </p:sp>
      <p:cxnSp>
        <p:nvCxnSpPr>
          <p:cNvPr id="505" name="Google Shape;505;p31"/>
          <p:cNvCxnSpPr/>
          <p:nvPr/>
        </p:nvCxnSpPr>
        <p:spPr>
          <a:xfrm>
            <a:off x="596300" y="1341375"/>
            <a:ext cx="0" cy="3188100"/>
          </a:xfrm>
          <a:prstGeom prst="straightConnector1">
            <a:avLst/>
          </a:prstGeom>
          <a:noFill/>
          <a:ln w="76200" cap="flat" cmpd="sng">
            <a:solidFill>
              <a:schemeClr val="dk2"/>
            </a:solidFill>
            <a:prstDash val="solid"/>
            <a:round/>
            <a:headEnd type="none" w="med" len="med"/>
            <a:tailEnd type="none" w="med" len="med"/>
          </a:ln>
        </p:spPr>
      </p:cxnSp>
      <p:cxnSp>
        <p:nvCxnSpPr>
          <p:cNvPr id="506" name="Google Shape;506;p31"/>
          <p:cNvCxnSpPr/>
          <p:nvPr/>
        </p:nvCxnSpPr>
        <p:spPr>
          <a:xfrm>
            <a:off x="596300" y="2902725"/>
            <a:ext cx="1190100" cy="0"/>
          </a:xfrm>
          <a:prstGeom prst="straightConnector1">
            <a:avLst/>
          </a:prstGeom>
          <a:noFill/>
          <a:ln w="76200" cap="flat" cmpd="sng">
            <a:solidFill>
              <a:schemeClr val="dk2"/>
            </a:solidFill>
            <a:prstDash val="solid"/>
            <a:round/>
            <a:headEnd type="none" w="med" len="med"/>
            <a:tailEnd type="triangle" w="med" len="med"/>
          </a:ln>
        </p:spPr>
      </p:cxnSp>
      <p:sp>
        <p:nvSpPr>
          <p:cNvPr id="507" name="Google Shape;507;p31"/>
          <p:cNvSpPr txBox="1"/>
          <p:nvPr/>
        </p:nvSpPr>
        <p:spPr>
          <a:xfrm>
            <a:off x="1879375" y="2731150"/>
            <a:ext cx="4370700" cy="223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fr" sz="1600">
                <a:solidFill>
                  <a:schemeClr val="lt1"/>
                </a:solidFill>
                <a:latin typeface="Comfortaa"/>
                <a:ea typeface="Comfortaa"/>
                <a:cs typeface="Comfortaa"/>
                <a:sym typeface="Comfortaa"/>
              </a:rPr>
              <a:t>Hausdorff Cosine distance.</a:t>
            </a:r>
            <a:endParaRPr sz="1600">
              <a:latin typeface="Comfortaa"/>
              <a:ea typeface="Comfortaa"/>
              <a:cs typeface="Comfortaa"/>
              <a:sym typeface="Comfortaa"/>
            </a:endParaRPr>
          </a:p>
        </p:txBody>
      </p:sp>
      <p:sp>
        <p:nvSpPr>
          <p:cNvPr id="508" name="Google Shape;508;p3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05"/>
                                        </p:tgtEl>
                                        <p:attrNameLst>
                                          <p:attrName>style.visibility</p:attrName>
                                        </p:attrNameLst>
                                      </p:cBhvr>
                                      <p:to>
                                        <p:strVal val="visible"/>
                                      </p:to>
                                    </p:set>
                                  </p:childTnLst>
                                </p:cTn>
                              </p:par>
                            </p:childTnLst>
                          </p:cTn>
                        </p:par>
                        <p:par>
                          <p:cTn id="7" fill="hold">
                            <p:stCondLst>
                              <p:cond delay="0"/>
                            </p:stCondLst>
                            <p:childTnLst>
                              <p:par>
                                <p:cTn id="8" presetID="2" presetClass="entr" presetSubtype="1" fill="hold" nodeType="afterEffect">
                                  <p:stCondLst>
                                    <p:cond delay="0"/>
                                  </p:stCondLst>
                                  <p:childTnLst>
                                    <p:set>
                                      <p:cBhvr>
                                        <p:cTn id="9" dur="1" fill="hold">
                                          <p:stCondLst>
                                            <p:cond delay="0"/>
                                          </p:stCondLst>
                                        </p:cTn>
                                        <p:tgtEl>
                                          <p:spTgt spid="506"/>
                                        </p:tgtEl>
                                        <p:attrNameLst>
                                          <p:attrName>style.visibility</p:attrName>
                                        </p:attrNameLst>
                                      </p:cBhvr>
                                      <p:to>
                                        <p:strVal val="visible"/>
                                      </p:to>
                                    </p:set>
                                    <p:anim calcmode="lin" valueType="num">
                                      <p:cBhvr additive="base">
                                        <p:cTn id="10" dur="1000"/>
                                        <p:tgtEl>
                                          <p:spTgt spid="506"/>
                                        </p:tgtEl>
                                        <p:attrNameLst>
                                          <p:attrName>ppt_y</p:attrName>
                                        </p:attrNameLst>
                                      </p:cBhvr>
                                      <p:tavLst>
                                        <p:tav tm="0">
                                          <p:val>
                                            <p:strVal val="#ppt_y-1"/>
                                          </p:val>
                                        </p:tav>
                                        <p:tav tm="100000">
                                          <p:val>
                                            <p:strVal val="#ppt_y"/>
                                          </p:val>
                                        </p:tav>
                                      </p:tavLst>
                                    </p:anim>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12"/>
        <p:cNvGrpSpPr/>
        <p:nvPr/>
      </p:nvGrpSpPr>
      <p:grpSpPr>
        <a:xfrm>
          <a:off x="0" y="0"/>
          <a:ext cx="0" cy="0"/>
          <a:chOff x="0" y="0"/>
          <a:chExt cx="0" cy="0"/>
        </a:xfrm>
      </p:grpSpPr>
      <p:sp>
        <p:nvSpPr>
          <p:cNvPr id="513" name="Google Shape;513;p32"/>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14" name="Google Shape;514;p32"/>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15" name="Google Shape;515;p32"/>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16" name="Google Shape;516;p32"/>
          <p:cNvSpPr txBox="1"/>
          <p:nvPr/>
        </p:nvSpPr>
        <p:spPr>
          <a:xfrm>
            <a:off x="311688" y="358175"/>
            <a:ext cx="8148900" cy="2760600"/>
          </a:xfrm>
          <a:prstGeom prst="rect">
            <a:avLst/>
          </a:prstGeom>
          <a:noFill/>
          <a:ln>
            <a:noFill/>
          </a:ln>
        </p:spPr>
        <p:txBody>
          <a:bodyPr spcFirstLastPara="1" wrap="square" lIns="91425" tIns="91425" rIns="91425" bIns="91425" anchor="t" anchorCtr="0">
            <a:noAutofit/>
          </a:bodyPr>
          <a:lstStyle/>
          <a:p>
            <a:pPr marL="457200" lvl="0" indent="-361950" algn="l" rtl="0">
              <a:lnSpc>
                <a:spcPct val="115000"/>
              </a:lnSpc>
              <a:spcBef>
                <a:spcPts val="1200"/>
              </a:spcBef>
              <a:spcAft>
                <a:spcPts val="0"/>
              </a:spcAft>
              <a:buClr>
                <a:srgbClr val="FF9900"/>
              </a:buClr>
              <a:buSzPts val="2100"/>
              <a:buFont typeface="Comfortaa"/>
              <a:buAutoNum type="arabicPeriod"/>
            </a:pPr>
            <a:r>
              <a:rPr lang="fr" sz="2100" b="1" u="sng">
                <a:solidFill>
                  <a:srgbClr val="FF9900"/>
                </a:solidFill>
                <a:latin typeface="Comfortaa"/>
                <a:ea typeface="Comfortaa"/>
                <a:cs typeface="Comfortaa"/>
                <a:sym typeface="Comfortaa"/>
              </a:rPr>
              <a:t>Frechet distance</a:t>
            </a:r>
            <a:endParaRPr sz="2100" b="1" u="sng">
              <a:solidFill>
                <a:srgbClr val="FF9900"/>
              </a:solidFill>
              <a:latin typeface="Comfortaa"/>
              <a:ea typeface="Comfortaa"/>
              <a:cs typeface="Comfortaa"/>
              <a:sym typeface="Comfortaa"/>
            </a:endParaRPr>
          </a:p>
          <a:p>
            <a:pPr marL="457200" lvl="0" indent="0" algn="l" rtl="0">
              <a:lnSpc>
                <a:spcPct val="115000"/>
              </a:lnSpc>
              <a:spcBef>
                <a:spcPts val="1200"/>
              </a:spcBef>
              <a:spcAft>
                <a:spcPts val="0"/>
              </a:spcAft>
              <a:buNone/>
            </a:pPr>
            <a:endParaRPr sz="1600" u="sng">
              <a:solidFill>
                <a:schemeClr val="lt1"/>
              </a:solidFill>
              <a:latin typeface="Comfortaa"/>
              <a:ea typeface="Comfortaa"/>
              <a:cs typeface="Comfortaa"/>
              <a:sym typeface="Comfortaa"/>
            </a:endParaRPr>
          </a:p>
          <a:p>
            <a:pPr marL="457200" lvl="0" indent="0" algn="l" rtl="0">
              <a:lnSpc>
                <a:spcPct val="115000"/>
              </a:lnSpc>
              <a:spcBef>
                <a:spcPts val="1200"/>
              </a:spcBef>
              <a:spcAft>
                <a:spcPts val="0"/>
              </a:spcAft>
              <a:buNone/>
            </a:pPr>
            <a:r>
              <a:rPr lang="fr" sz="1600">
                <a:solidFill>
                  <a:schemeClr val="lt1"/>
                </a:solidFill>
                <a:latin typeface="Comfortaa"/>
                <a:ea typeface="Comfortaa"/>
                <a:cs typeface="Comfortaa"/>
                <a:sym typeface="Comfortaa"/>
              </a:rPr>
              <a:t>une mesure de similarité entre les trajectoires qui tient compte de l'emplacement et de l'ordre des points le long des trajectoires . elle </a:t>
            </a:r>
            <a:r>
              <a:rPr lang="fr" sz="1600" b="1">
                <a:solidFill>
                  <a:schemeClr val="lt1"/>
                </a:solidFill>
                <a:latin typeface="Comfortaa"/>
                <a:ea typeface="Comfortaa"/>
                <a:cs typeface="Comfortaa"/>
                <a:sym typeface="Comfortaa"/>
              </a:rPr>
              <a:t>mesure la distance minimale entre deux courbes continues.</a:t>
            </a:r>
            <a:endParaRPr sz="1600" b="1">
              <a:solidFill>
                <a:schemeClr val="lt1"/>
              </a:solidFill>
              <a:latin typeface="Comfortaa"/>
              <a:ea typeface="Comfortaa"/>
              <a:cs typeface="Comfortaa"/>
              <a:sym typeface="Comfortaa"/>
            </a:endParaRPr>
          </a:p>
          <a:p>
            <a:pPr marL="1371600" lvl="0" indent="0" algn="l" rtl="0">
              <a:lnSpc>
                <a:spcPct val="115000"/>
              </a:lnSpc>
              <a:spcBef>
                <a:spcPts val="1200"/>
              </a:spcBef>
              <a:spcAft>
                <a:spcPts val="1200"/>
              </a:spcAft>
              <a:buNone/>
            </a:pPr>
            <a:endParaRPr sz="1600">
              <a:solidFill>
                <a:schemeClr val="lt1"/>
              </a:solidFill>
              <a:latin typeface="Comfortaa"/>
              <a:ea typeface="Comfortaa"/>
              <a:cs typeface="Comfortaa"/>
              <a:sym typeface="Comfortaa"/>
            </a:endParaRPr>
          </a:p>
        </p:txBody>
      </p:sp>
      <p:pic>
        <p:nvPicPr>
          <p:cNvPr id="517" name="Google Shape;517;p32"/>
          <p:cNvPicPr preferRelativeResize="0"/>
          <p:nvPr/>
        </p:nvPicPr>
        <p:blipFill>
          <a:blip r:embed="rId4">
            <a:alphaModFix/>
          </a:blip>
          <a:stretch>
            <a:fillRect/>
          </a:stretch>
        </p:blipFill>
        <p:spPr>
          <a:xfrm>
            <a:off x="1604950" y="2662600"/>
            <a:ext cx="5934075" cy="2395175"/>
          </a:xfrm>
          <a:prstGeom prst="rect">
            <a:avLst/>
          </a:prstGeom>
          <a:noFill/>
          <a:ln>
            <a:noFill/>
          </a:ln>
        </p:spPr>
      </p:pic>
      <p:sp>
        <p:nvSpPr>
          <p:cNvPr id="518" name="Google Shape;518;p3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22"/>
        <p:cNvGrpSpPr/>
        <p:nvPr/>
      </p:nvGrpSpPr>
      <p:grpSpPr>
        <a:xfrm>
          <a:off x="0" y="0"/>
          <a:ext cx="0" cy="0"/>
          <a:chOff x="0" y="0"/>
          <a:chExt cx="0" cy="0"/>
        </a:xfrm>
      </p:grpSpPr>
      <p:sp>
        <p:nvSpPr>
          <p:cNvPr id="523" name="Google Shape;523;p33"/>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24" name="Google Shape;524;p33"/>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25" name="Google Shape;525;p33"/>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26" name="Google Shape;526;p33"/>
          <p:cNvSpPr txBox="1"/>
          <p:nvPr/>
        </p:nvSpPr>
        <p:spPr>
          <a:xfrm>
            <a:off x="-47375" y="389350"/>
            <a:ext cx="9144000" cy="234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2. Dynamic Time Warping (DTW)</a:t>
            </a:r>
            <a:endParaRPr sz="2100" b="1" u="sng">
              <a:solidFill>
                <a:srgbClr val="FF9900"/>
              </a:solidFill>
              <a:latin typeface="Comfortaa"/>
              <a:ea typeface="Comfortaa"/>
              <a:cs typeface="Comfortaa"/>
              <a:sym typeface="Comfortaa"/>
            </a:endParaRPr>
          </a:p>
          <a:p>
            <a:pPr marL="457200" lvl="0" indent="-330200" algn="l" rtl="0">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elle mesure la similarité entre deux trajectoire qui peuvent varier au cours du temps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9144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Implémenté par programmation dynamique </a:t>
            </a:r>
            <a:endParaRPr sz="1600">
              <a:solidFill>
                <a:schemeClr val="lt1"/>
              </a:solidFill>
              <a:latin typeface="Comfortaa"/>
              <a:ea typeface="Comfortaa"/>
              <a:cs typeface="Comfortaa"/>
              <a:sym typeface="Comfortaa"/>
            </a:endParaRPr>
          </a:p>
          <a:p>
            <a:pPr marL="182880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9144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Capable de gérer la distorsion du temps </a:t>
            </a:r>
            <a:endParaRPr sz="1600">
              <a:solidFill>
                <a:schemeClr val="lt1"/>
              </a:solidFill>
              <a:latin typeface="Comfortaa"/>
              <a:ea typeface="Comfortaa"/>
              <a:cs typeface="Comfortaa"/>
              <a:sym typeface="Comfortaa"/>
            </a:endParaRPr>
          </a:p>
          <a:p>
            <a:pPr marL="182880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914400" lvl="0" indent="-361950" algn="l" rtl="0">
              <a:lnSpc>
                <a:spcPct val="115000"/>
              </a:lnSpc>
              <a:spcBef>
                <a:spcPts val="1200"/>
              </a:spcBef>
              <a:spcAft>
                <a:spcPts val="0"/>
              </a:spcAft>
              <a:buClr>
                <a:schemeClr val="lt1"/>
              </a:buClr>
              <a:buSzPts val="2100"/>
              <a:buFont typeface="Comfortaa"/>
              <a:buChar char="❏"/>
            </a:pPr>
            <a:r>
              <a:rPr lang="fr" sz="1600">
                <a:solidFill>
                  <a:schemeClr val="lt1"/>
                </a:solidFill>
                <a:latin typeface="Comfortaa"/>
                <a:ea typeface="Comfortaa"/>
                <a:cs typeface="Comfortaa"/>
                <a:sym typeface="Comfortaa"/>
              </a:rPr>
              <a:t>Sensible au bruit.</a:t>
            </a:r>
            <a:r>
              <a:rPr lang="fr" sz="2100">
                <a:solidFill>
                  <a:schemeClr val="lt1"/>
                </a:solidFill>
                <a:latin typeface="Comfortaa"/>
                <a:ea typeface="Comfortaa"/>
                <a:cs typeface="Comfortaa"/>
                <a:sym typeface="Comfortaa"/>
              </a:rPr>
              <a:t> </a:t>
            </a:r>
            <a:endParaRPr sz="2100">
              <a:solidFill>
                <a:schemeClr val="lt1"/>
              </a:solidFill>
              <a:latin typeface="Comfortaa"/>
              <a:ea typeface="Comfortaa"/>
              <a:cs typeface="Comfortaa"/>
              <a:sym typeface="Comfortaa"/>
            </a:endParaRPr>
          </a:p>
        </p:txBody>
      </p:sp>
      <p:pic>
        <p:nvPicPr>
          <p:cNvPr id="527" name="Google Shape;527;p33"/>
          <p:cNvPicPr preferRelativeResize="0"/>
          <p:nvPr/>
        </p:nvPicPr>
        <p:blipFill>
          <a:blip r:embed="rId4">
            <a:alphaModFix/>
          </a:blip>
          <a:stretch>
            <a:fillRect/>
          </a:stretch>
        </p:blipFill>
        <p:spPr>
          <a:xfrm>
            <a:off x="5170350" y="3054975"/>
            <a:ext cx="3973650" cy="2088525"/>
          </a:xfrm>
          <a:prstGeom prst="rect">
            <a:avLst/>
          </a:prstGeom>
          <a:noFill/>
          <a:ln>
            <a:noFill/>
          </a:ln>
        </p:spPr>
      </p:pic>
      <p:sp>
        <p:nvSpPr>
          <p:cNvPr id="528" name="Google Shape;528;p3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32"/>
        <p:cNvGrpSpPr/>
        <p:nvPr/>
      </p:nvGrpSpPr>
      <p:grpSpPr>
        <a:xfrm>
          <a:off x="0" y="0"/>
          <a:ext cx="0" cy="0"/>
          <a:chOff x="0" y="0"/>
          <a:chExt cx="0" cy="0"/>
        </a:xfrm>
      </p:grpSpPr>
      <p:sp>
        <p:nvSpPr>
          <p:cNvPr id="533" name="Google Shape;533;p34"/>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34" name="Google Shape;534;p34"/>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35" name="Google Shape;535;p34"/>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36" name="Google Shape;536;p34"/>
          <p:cNvSpPr txBox="1"/>
          <p:nvPr/>
        </p:nvSpPr>
        <p:spPr>
          <a:xfrm>
            <a:off x="331325" y="819050"/>
            <a:ext cx="8148900" cy="27606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3. Longest Common Sub-sequence(LCSS)</a:t>
            </a:r>
            <a:endParaRPr sz="2100" b="1" u="sng">
              <a:solidFill>
                <a:srgbClr val="FF9900"/>
              </a:solidFill>
              <a:latin typeface="Comfortaa"/>
              <a:ea typeface="Comfortaa"/>
              <a:cs typeface="Comfortaa"/>
              <a:sym typeface="Comfortaa"/>
            </a:endParaRPr>
          </a:p>
          <a:p>
            <a:pPr marL="457200" lvl="0" indent="-330200" algn="l" rtl="0">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 trouve la plus longue sous-séquence commune à deux séquences.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2100" b="1" u="sng">
              <a:solidFill>
                <a:srgbClr val="FF9900"/>
              </a:solidFill>
              <a:latin typeface="Comfortaa"/>
              <a:ea typeface="Comfortaa"/>
              <a:cs typeface="Comfortaa"/>
              <a:sym typeface="Comfortaa"/>
            </a:endParaRPr>
          </a:p>
          <a:p>
            <a:pPr marL="13716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Capable de gérer la distorsion temporelle </a:t>
            </a:r>
            <a:endParaRPr sz="1600">
              <a:solidFill>
                <a:schemeClr val="lt1"/>
              </a:solidFill>
              <a:latin typeface="Comfortaa"/>
              <a:ea typeface="Comfortaa"/>
              <a:cs typeface="Comfortaa"/>
              <a:sym typeface="Comfortaa"/>
            </a:endParaRPr>
          </a:p>
          <a:p>
            <a:pPr marL="228600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13716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Robuste en présence de bruit </a:t>
            </a:r>
            <a:endParaRPr sz="1600">
              <a:solidFill>
                <a:schemeClr val="lt1"/>
              </a:solidFill>
              <a:latin typeface="Comfortaa"/>
              <a:ea typeface="Comfortaa"/>
              <a:cs typeface="Comfortaa"/>
              <a:sym typeface="Comfortaa"/>
            </a:endParaRPr>
          </a:p>
          <a:p>
            <a:pPr marL="228600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1371600" lvl="0" indent="0" algn="l" rtl="0">
              <a:lnSpc>
                <a:spcPct val="115000"/>
              </a:lnSpc>
              <a:spcBef>
                <a:spcPts val="1200"/>
              </a:spcBef>
              <a:spcAft>
                <a:spcPts val="1200"/>
              </a:spcAft>
              <a:buNone/>
            </a:pPr>
            <a:endParaRPr sz="1600">
              <a:solidFill>
                <a:schemeClr val="lt1"/>
              </a:solidFill>
              <a:latin typeface="Comfortaa"/>
              <a:ea typeface="Comfortaa"/>
              <a:cs typeface="Comfortaa"/>
              <a:sym typeface="Comfortaa"/>
            </a:endParaRPr>
          </a:p>
        </p:txBody>
      </p:sp>
      <p:sp>
        <p:nvSpPr>
          <p:cNvPr id="537" name="Google Shape;537;p3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41"/>
        <p:cNvGrpSpPr/>
        <p:nvPr/>
      </p:nvGrpSpPr>
      <p:grpSpPr>
        <a:xfrm>
          <a:off x="0" y="0"/>
          <a:ext cx="0" cy="0"/>
          <a:chOff x="0" y="0"/>
          <a:chExt cx="0" cy="0"/>
        </a:xfrm>
      </p:grpSpPr>
      <p:sp>
        <p:nvSpPr>
          <p:cNvPr id="542" name="Google Shape;542;p35"/>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43" name="Google Shape;543;p35"/>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44" name="Google Shape;544;p35"/>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45" name="Google Shape;545;p35"/>
          <p:cNvSpPr txBox="1"/>
          <p:nvPr/>
        </p:nvSpPr>
        <p:spPr>
          <a:xfrm>
            <a:off x="331325" y="657925"/>
            <a:ext cx="8148900" cy="27606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4. Partial Curve Mapping(PCM)</a:t>
            </a:r>
            <a:endParaRPr sz="2100" b="1" u="sng">
              <a:solidFill>
                <a:srgbClr val="FF9900"/>
              </a:solidFill>
              <a:latin typeface="Comfortaa"/>
              <a:ea typeface="Comfortaa"/>
              <a:cs typeface="Comfortaa"/>
              <a:sym typeface="Comfortaa"/>
            </a:endParaRPr>
          </a:p>
          <a:p>
            <a:pPr marL="457200" lvl="0" indent="0" algn="l" rtl="0">
              <a:lnSpc>
                <a:spcPct val="115000"/>
              </a:lnSpc>
              <a:spcBef>
                <a:spcPts val="1200"/>
              </a:spcBef>
              <a:spcAft>
                <a:spcPts val="0"/>
              </a:spcAft>
              <a:buNone/>
            </a:pPr>
            <a:endParaRPr sz="1600" u="sng">
              <a:solidFill>
                <a:schemeClr val="lt1"/>
              </a:solidFill>
              <a:latin typeface="Comfortaa"/>
              <a:ea typeface="Comfortaa"/>
              <a:cs typeface="Comfortaa"/>
              <a:sym typeface="Comfortaa"/>
            </a:endParaRPr>
          </a:p>
          <a:p>
            <a:pPr marL="13716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elle compare deux courbes en utilisant seulement une partie de l’une d’elles. Elle est utile lorsque les trajectoires sont partiellement similaires.</a:t>
            </a:r>
            <a:endParaRPr sz="1600">
              <a:solidFill>
                <a:schemeClr val="lt1"/>
              </a:solidFill>
              <a:latin typeface="Comfortaa"/>
              <a:ea typeface="Comfortaa"/>
              <a:cs typeface="Comfortaa"/>
              <a:sym typeface="Comfortaa"/>
            </a:endParaRPr>
          </a:p>
        </p:txBody>
      </p:sp>
      <p:pic>
        <p:nvPicPr>
          <p:cNvPr id="546" name="Google Shape;546;p35"/>
          <p:cNvPicPr preferRelativeResize="0"/>
          <p:nvPr/>
        </p:nvPicPr>
        <p:blipFill>
          <a:blip r:embed="rId4">
            <a:alphaModFix/>
          </a:blip>
          <a:stretch>
            <a:fillRect/>
          </a:stretch>
        </p:blipFill>
        <p:spPr>
          <a:xfrm>
            <a:off x="1826050" y="2733550"/>
            <a:ext cx="5909424" cy="2347975"/>
          </a:xfrm>
          <a:prstGeom prst="rect">
            <a:avLst/>
          </a:prstGeom>
          <a:noFill/>
          <a:ln>
            <a:noFill/>
          </a:ln>
        </p:spPr>
      </p:pic>
      <p:sp>
        <p:nvSpPr>
          <p:cNvPr id="547" name="Google Shape;547;p3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51"/>
        <p:cNvGrpSpPr/>
        <p:nvPr/>
      </p:nvGrpSpPr>
      <p:grpSpPr>
        <a:xfrm>
          <a:off x="0" y="0"/>
          <a:ext cx="0" cy="0"/>
          <a:chOff x="0" y="0"/>
          <a:chExt cx="0" cy="0"/>
        </a:xfrm>
      </p:grpSpPr>
      <p:sp>
        <p:nvSpPr>
          <p:cNvPr id="552" name="Google Shape;552;p36"/>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53" name="Google Shape;553;p36"/>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54" name="Google Shape;554;p36"/>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55" name="Google Shape;555;p36"/>
          <p:cNvSpPr txBox="1"/>
          <p:nvPr/>
        </p:nvSpPr>
        <p:spPr>
          <a:xfrm>
            <a:off x="331325" y="819050"/>
            <a:ext cx="8148900" cy="27606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5. Area between Two Curves </a:t>
            </a:r>
            <a:endParaRPr sz="2100" b="1" u="sng">
              <a:solidFill>
                <a:srgbClr val="FF9900"/>
              </a:solidFill>
              <a:latin typeface="Comfortaa"/>
              <a:ea typeface="Comfortaa"/>
              <a:cs typeface="Comfortaa"/>
              <a:sym typeface="Comfortaa"/>
            </a:endParaRPr>
          </a:p>
          <a:p>
            <a:pPr marL="457200" lvl="0" indent="0" algn="l" rtl="0">
              <a:lnSpc>
                <a:spcPct val="115000"/>
              </a:lnSpc>
              <a:spcBef>
                <a:spcPts val="1200"/>
              </a:spcBef>
              <a:spcAft>
                <a:spcPts val="0"/>
              </a:spcAft>
              <a:buNone/>
            </a:pPr>
            <a:endParaRPr sz="1600" u="sng">
              <a:solidFill>
                <a:schemeClr val="lt1"/>
              </a:solidFill>
              <a:latin typeface="Comfortaa"/>
              <a:ea typeface="Comfortaa"/>
              <a:cs typeface="Comfortaa"/>
              <a:sym typeface="Comfortaa"/>
            </a:endParaRPr>
          </a:p>
          <a:p>
            <a:pPr marL="13716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Cette mesure est simplement l’aire entre deux courbes. Elle est facile à calculer et à comprendre, mais peut ne pas être appropriée pour toutes les applications.</a:t>
            </a:r>
            <a:endParaRPr sz="1600">
              <a:solidFill>
                <a:schemeClr val="lt1"/>
              </a:solidFill>
              <a:latin typeface="Comfortaa"/>
              <a:ea typeface="Comfortaa"/>
              <a:cs typeface="Comfortaa"/>
              <a:sym typeface="Comfortaa"/>
            </a:endParaRPr>
          </a:p>
        </p:txBody>
      </p:sp>
      <p:pic>
        <p:nvPicPr>
          <p:cNvPr id="556" name="Google Shape;556;p36"/>
          <p:cNvPicPr preferRelativeResize="0"/>
          <p:nvPr/>
        </p:nvPicPr>
        <p:blipFill>
          <a:blip r:embed="rId4">
            <a:alphaModFix/>
          </a:blip>
          <a:stretch>
            <a:fillRect/>
          </a:stretch>
        </p:blipFill>
        <p:spPr>
          <a:xfrm>
            <a:off x="2680850" y="2956575"/>
            <a:ext cx="3744000" cy="1911750"/>
          </a:xfrm>
          <a:prstGeom prst="rect">
            <a:avLst/>
          </a:prstGeom>
          <a:noFill/>
          <a:ln>
            <a:noFill/>
          </a:ln>
        </p:spPr>
      </p:pic>
      <p:sp>
        <p:nvSpPr>
          <p:cNvPr id="557" name="Google Shape;557;p3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61"/>
        <p:cNvGrpSpPr/>
        <p:nvPr/>
      </p:nvGrpSpPr>
      <p:grpSpPr>
        <a:xfrm>
          <a:off x="0" y="0"/>
          <a:ext cx="0" cy="0"/>
          <a:chOff x="0" y="0"/>
          <a:chExt cx="0" cy="0"/>
        </a:xfrm>
      </p:grpSpPr>
      <p:sp>
        <p:nvSpPr>
          <p:cNvPr id="562" name="Google Shape;562;p37"/>
          <p:cNvSpPr/>
          <p:nvPr/>
        </p:nvSpPr>
        <p:spPr>
          <a:xfrm rot="-675222">
            <a:off x="5807331" y="-432751"/>
            <a:ext cx="2755770" cy="2476748"/>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63" name="Google Shape;563;p37"/>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64" name="Google Shape;564;p37"/>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65" name="Google Shape;565;p37"/>
          <p:cNvSpPr txBox="1"/>
          <p:nvPr/>
        </p:nvSpPr>
        <p:spPr>
          <a:xfrm>
            <a:off x="390225" y="328250"/>
            <a:ext cx="8148900" cy="27606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6. Hausdorff Distance </a:t>
            </a:r>
            <a:endParaRPr sz="2100" b="1" u="sng">
              <a:solidFill>
                <a:srgbClr val="FF9900"/>
              </a:solidFill>
              <a:latin typeface="Comfortaa"/>
              <a:ea typeface="Comfortaa"/>
              <a:cs typeface="Comfortaa"/>
              <a:sym typeface="Comfortaa"/>
            </a:endParaRPr>
          </a:p>
          <a:p>
            <a:pPr marL="457200" lvl="0" indent="0" algn="l" rtl="0">
              <a:lnSpc>
                <a:spcPct val="115000"/>
              </a:lnSpc>
              <a:spcBef>
                <a:spcPts val="1200"/>
              </a:spcBef>
              <a:spcAft>
                <a:spcPts val="0"/>
              </a:spcAft>
              <a:buNone/>
            </a:pPr>
            <a:endParaRPr sz="2100" b="1" u="sng">
              <a:solidFill>
                <a:srgbClr val="FF9900"/>
              </a:solidFill>
              <a:latin typeface="Comfortaa"/>
              <a:ea typeface="Comfortaa"/>
              <a:cs typeface="Comfortaa"/>
              <a:sym typeface="Comfortaa"/>
            </a:endParaRPr>
          </a:p>
          <a:p>
            <a:pPr marL="13716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elle mesure à quel point chaque point d’une courbe est proche du point le plus proche sur l’autre courbe. Elle est souvent utilisée pour comparer des images ou d’autres types de données spatiales.</a:t>
            </a:r>
            <a:endParaRPr sz="1600">
              <a:solidFill>
                <a:schemeClr val="lt1"/>
              </a:solidFill>
              <a:latin typeface="Comfortaa"/>
              <a:ea typeface="Comfortaa"/>
              <a:cs typeface="Comfortaa"/>
              <a:sym typeface="Comfortaa"/>
            </a:endParaRPr>
          </a:p>
          <a:p>
            <a:pPr marL="0" lvl="0" indent="0" algn="l" rtl="0">
              <a:lnSpc>
                <a:spcPct val="115000"/>
              </a:lnSpc>
              <a:spcBef>
                <a:spcPts val="1200"/>
              </a:spcBef>
              <a:spcAft>
                <a:spcPts val="1200"/>
              </a:spcAft>
              <a:buNone/>
            </a:pPr>
            <a:endParaRPr sz="1600">
              <a:solidFill>
                <a:schemeClr val="lt1"/>
              </a:solidFill>
              <a:latin typeface="Comfortaa"/>
              <a:ea typeface="Comfortaa"/>
              <a:cs typeface="Comfortaa"/>
              <a:sym typeface="Comfortaa"/>
            </a:endParaRPr>
          </a:p>
        </p:txBody>
      </p:sp>
      <p:pic>
        <p:nvPicPr>
          <p:cNvPr id="566" name="Google Shape;566;p37"/>
          <p:cNvPicPr preferRelativeResize="0"/>
          <p:nvPr/>
        </p:nvPicPr>
        <p:blipFill rotWithShape="1">
          <a:blip r:embed="rId4">
            <a:alphaModFix/>
          </a:blip>
          <a:srcRect l="1160" r="-1160"/>
          <a:stretch/>
        </p:blipFill>
        <p:spPr>
          <a:xfrm>
            <a:off x="2009200" y="2956575"/>
            <a:ext cx="5577300" cy="2186925"/>
          </a:xfrm>
          <a:prstGeom prst="rect">
            <a:avLst/>
          </a:prstGeom>
          <a:noFill/>
          <a:ln>
            <a:noFill/>
          </a:ln>
        </p:spPr>
      </p:pic>
      <p:sp>
        <p:nvSpPr>
          <p:cNvPr id="567" name="Google Shape;567;p3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2A37"/>
        </a:solidFill>
        <a:effectLst/>
      </p:bgPr>
    </p:bg>
    <p:spTree>
      <p:nvGrpSpPr>
        <p:cNvPr id="1" name="Shape 571"/>
        <p:cNvGrpSpPr/>
        <p:nvPr/>
      </p:nvGrpSpPr>
      <p:grpSpPr>
        <a:xfrm>
          <a:off x="0" y="0"/>
          <a:ext cx="0" cy="0"/>
          <a:chOff x="0" y="0"/>
          <a:chExt cx="0" cy="0"/>
        </a:xfrm>
      </p:grpSpPr>
      <p:sp>
        <p:nvSpPr>
          <p:cNvPr id="572" name="Google Shape;572;p38"/>
          <p:cNvSpPr/>
          <p:nvPr/>
        </p:nvSpPr>
        <p:spPr>
          <a:xfrm>
            <a:off x="-668396" y="1624181"/>
            <a:ext cx="4412654" cy="4114800"/>
          </a:xfrm>
          <a:custGeom>
            <a:avLst/>
            <a:gdLst/>
            <a:ahLst/>
            <a:cxnLst/>
            <a:rect l="l" t="t" r="r" b="b"/>
            <a:pathLst>
              <a:path w="8825308" h="8229600" extrusionOk="0">
                <a:moveTo>
                  <a:pt x="0" y="0"/>
                </a:moveTo>
                <a:lnTo>
                  <a:pt x="8825308" y="0"/>
                </a:lnTo>
                <a:lnTo>
                  <a:pt x="8825308" y="8229600"/>
                </a:lnTo>
                <a:lnTo>
                  <a:pt x="0" y="8229600"/>
                </a:lnTo>
                <a:lnTo>
                  <a:pt x="0" y="0"/>
                </a:lnTo>
                <a:close/>
              </a:path>
            </a:pathLst>
          </a:custGeom>
          <a:blipFill rotWithShape="1">
            <a:blip r:embed="rId3">
              <a:alphaModFix/>
            </a:blip>
            <a:stretch>
              <a:fillRect/>
            </a:stretch>
          </a:blipFill>
          <a:ln>
            <a:noFill/>
          </a:ln>
        </p:spPr>
        <p:txBody>
          <a:bodyPr/>
          <a:lstStyle/>
          <a:p>
            <a:endParaRPr lang="fr-FR"/>
          </a:p>
        </p:txBody>
      </p:sp>
      <p:sp>
        <p:nvSpPr>
          <p:cNvPr id="573" name="Google Shape;573;p38"/>
          <p:cNvSpPr/>
          <p:nvPr/>
        </p:nvSpPr>
        <p:spPr>
          <a:xfrm rot="-2906260">
            <a:off x="-629666" y="-1456040"/>
            <a:ext cx="5461904" cy="4772339"/>
          </a:xfrm>
          <a:custGeom>
            <a:avLst/>
            <a:gdLst/>
            <a:ahLst/>
            <a:cxnLst/>
            <a:rect l="l" t="t" r="r" b="b"/>
            <a:pathLst>
              <a:path w="10898092" h="9522208" extrusionOk="0">
                <a:moveTo>
                  <a:pt x="0" y="0"/>
                </a:moveTo>
                <a:lnTo>
                  <a:pt x="10898093" y="0"/>
                </a:lnTo>
                <a:lnTo>
                  <a:pt x="10898093" y="9522208"/>
                </a:lnTo>
                <a:lnTo>
                  <a:pt x="0" y="9522208"/>
                </a:lnTo>
                <a:lnTo>
                  <a:pt x="0" y="0"/>
                </a:lnTo>
                <a:close/>
              </a:path>
            </a:pathLst>
          </a:custGeom>
          <a:blipFill rotWithShape="1">
            <a:blip r:embed="rId4">
              <a:alphaModFix/>
            </a:blip>
            <a:stretch>
              <a:fillRect/>
            </a:stretch>
          </a:blipFill>
          <a:ln>
            <a:noFill/>
          </a:ln>
        </p:spPr>
        <p:txBody>
          <a:bodyPr/>
          <a:lstStyle/>
          <a:p>
            <a:endParaRPr lang="fr-FR"/>
          </a:p>
        </p:txBody>
      </p:sp>
      <p:sp>
        <p:nvSpPr>
          <p:cNvPr id="574" name="Google Shape;574;p38"/>
          <p:cNvSpPr/>
          <p:nvPr/>
        </p:nvSpPr>
        <p:spPr>
          <a:xfrm>
            <a:off x="3590900" y="2270295"/>
            <a:ext cx="3370639" cy="4562624"/>
          </a:xfrm>
          <a:custGeom>
            <a:avLst/>
            <a:gdLst/>
            <a:ahLst/>
            <a:cxnLst/>
            <a:rect l="l" t="t" r="r" b="b"/>
            <a:pathLst>
              <a:path w="6741277" h="9125247" extrusionOk="0">
                <a:moveTo>
                  <a:pt x="0" y="0"/>
                </a:moveTo>
                <a:lnTo>
                  <a:pt x="6741277" y="0"/>
                </a:lnTo>
                <a:lnTo>
                  <a:pt x="6741277" y="9125247"/>
                </a:lnTo>
                <a:lnTo>
                  <a:pt x="0" y="9125247"/>
                </a:lnTo>
                <a:lnTo>
                  <a:pt x="0" y="0"/>
                </a:lnTo>
                <a:close/>
              </a:path>
            </a:pathLst>
          </a:custGeom>
          <a:blipFill rotWithShape="1">
            <a:blip r:embed="rId5">
              <a:alphaModFix/>
            </a:blip>
            <a:stretch>
              <a:fillRect/>
            </a:stretch>
          </a:blipFill>
          <a:ln>
            <a:noFill/>
          </a:ln>
        </p:spPr>
        <p:txBody>
          <a:bodyPr/>
          <a:lstStyle/>
          <a:p>
            <a:endParaRPr lang="fr-FR"/>
          </a:p>
        </p:txBody>
      </p:sp>
      <p:grpSp>
        <p:nvGrpSpPr>
          <p:cNvPr id="575" name="Google Shape;575;p38"/>
          <p:cNvGrpSpPr/>
          <p:nvPr/>
        </p:nvGrpSpPr>
        <p:grpSpPr>
          <a:xfrm>
            <a:off x="4938449" y="2135950"/>
            <a:ext cx="3691236" cy="839153"/>
            <a:chOff x="-1557896" y="274411"/>
            <a:chExt cx="9843296" cy="2237742"/>
          </a:xfrm>
        </p:grpSpPr>
        <p:sp>
          <p:nvSpPr>
            <p:cNvPr id="576" name="Google Shape;576;p38"/>
            <p:cNvSpPr txBox="1"/>
            <p:nvPr/>
          </p:nvSpPr>
          <p:spPr>
            <a:xfrm>
              <a:off x="-1557896" y="274411"/>
              <a:ext cx="9843000" cy="17238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fr" sz="4200" b="1">
                  <a:solidFill>
                    <a:schemeClr val="lt1"/>
                  </a:solidFill>
                  <a:latin typeface="Share Tech"/>
                  <a:ea typeface="Share Tech"/>
                  <a:cs typeface="Share Tech"/>
                  <a:sym typeface="Share Tech"/>
                </a:rPr>
                <a:t>04- </a:t>
              </a:r>
              <a:r>
                <a:rPr lang="fr" sz="4200" b="1">
                  <a:solidFill>
                    <a:srgbClr val="FFFFFF"/>
                  </a:solidFill>
                  <a:latin typeface="Forum"/>
                  <a:ea typeface="Forum"/>
                  <a:cs typeface="Forum"/>
                  <a:sym typeface="Forum"/>
                </a:rPr>
                <a:t>Etude de cas</a:t>
              </a:r>
              <a:endParaRPr sz="1500" b="1">
                <a:latin typeface="Forum"/>
                <a:ea typeface="Forum"/>
                <a:cs typeface="Forum"/>
                <a:sym typeface="Forum"/>
              </a:endParaRPr>
            </a:p>
          </p:txBody>
        </p:sp>
        <p:sp>
          <p:nvSpPr>
            <p:cNvPr id="577" name="Google Shape;577;p38"/>
            <p:cNvSpPr txBox="1"/>
            <p:nvPr/>
          </p:nvSpPr>
          <p:spPr>
            <a:xfrm>
              <a:off x="0" y="2224753"/>
              <a:ext cx="8285400" cy="287400"/>
            </a:xfrm>
            <a:prstGeom prst="rect">
              <a:avLst/>
            </a:prstGeom>
            <a:noFill/>
            <a:ln>
              <a:noFill/>
            </a:ln>
          </p:spPr>
          <p:txBody>
            <a:bodyPr spcFirstLastPara="1" wrap="square" lIns="0" tIns="0" rIns="0" bIns="0" anchor="t" anchorCtr="0">
              <a:spAutoFit/>
            </a:bodyPr>
            <a:lstStyle/>
            <a:p>
              <a:pPr marL="0" marR="0" lvl="0" indent="0" algn="l" rtl="0">
                <a:lnSpc>
                  <a:spcPct val="130011"/>
                </a:lnSpc>
                <a:spcBef>
                  <a:spcPts val="0"/>
                </a:spcBef>
                <a:spcAft>
                  <a:spcPts val="0"/>
                </a:spcAft>
                <a:buNone/>
              </a:pPr>
              <a:endParaRPr sz="700"/>
            </a:p>
          </p:txBody>
        </p:sp>
      </p:grpSp>
      <p:sp>
        <p:nvSpPr>
          <p:cNvPr id="578" name="Google Shape;578;p38"/>
          <p:cNvSpPr txBox="1"/>
          <p:nvPr/>
        </p:nvSpPr>
        <p:spPr>
          <a:xfrm>
            <a:off x="4445650" y="2217550"/>
            <a:ext cx="981000" cy="57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4200">
              <a:solidFill>
                <a:schemeClr val="lt1"/>
              </a:solidFill>
              <a:latin typeface="Share Tech"/>
              <a:ea typeface="Share Tech"/>
              <a:cs typeface="Share Tech"/>
              <a:sym typeface="Share Tech"/>
            </a:endParaRPr>
          </a:p>
        </p:txBody>
      </p:sp>
      <p:sp>
        <p:nvSpPr>
          <p:cNvPr id="579" name="Google Shape;579;p3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83"/>
        <p:cNvGrpSpPr/>
        <p:nvPr/>
      </p:nvGrpSpPr>
      <p:grpSpPr>
        <a:xfrm>
          <a:off x="0" y="0"/>
          <a:ext cx="0" cy="0"/>
          <a:chOff x="0" y="0"/>
          <a:chExt cx="0" cy="0"/>
        </a:xfrm>
      </p:grpSpPr>
      <p:sp>
        <p:nvSpPr>
          <p:cNvPr id="584" name="Google Shape;584;p39"/>
          <p:cNvSpPr/>
          <p:nvPr/>
        </p:nvSpPr>
        <p:spPr>
          <a:xfrm rot="-672206">
            <a:off x="7292943" y="-273078"/>
            <a:ext cx="2909923" cy="2539942"/>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85" name="Google Shape;585;p39"/>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86" name="Google Shape;586;p39"/>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87" name="Google Shape;587;p39"/>
          <p:cNvSpPr txBox="1"/>
          <p:nvPr/>
        </p:nvSpPr>
        <p:spPr>
          <a:xfrm>
            <a:off x="383750" y="290100"/>
            <a:ext cx="7372500" cy="27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2100" b="1" u="sng">
                <a:solidFill>
                  <a:srgbClr val="FFAB40"/>
                </a:solidFill>
                <a:latin typeface="Comfortaa"/>
                <a:ea typeface="Comfortaa"/>
                <a:cs typeface="Comfortaa"/>
                <a:sym typeface="Comfortaa"/>
              </a:rPr>
              <a:t>bibliothèques utilisés:</a:t>
            </a:r>
            <a:endParaRPr sz="2100" u="sng">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13716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scikit-mobility</a:t>
            </a:r>
            <a:endParaRPr sz="1600">
              <a:solidFill>
                <a:schemeClr val="lt1"/>
              </a:solidFill>
              <a:latin typeface="Comfortaa"/>
              <a:ea typeface="Comfortaa"/>
              <a:cs typeface="Comfortaa"/>
              <a:sym typeface="Comfortaa"/>
            </a:endParaRPr>
          </a:p>
          <a:p>
            <a:pPr marL="137160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1371600" lvl="0" indent="-330200" algn="l" rtl="0">
              <a:lnSpc>
                <a:spcPct val="135714"/>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similaritymeasures</a:t>
            </a:r>
            <a:endParaRPr sz="1600">
              <a:solidFill>
                <a:schemeClr val="lt1"/>
              </a:solidFill>
              <a:latin typeface="Comfortaa"/>
              <a:ea typeface="Comfortaa"/>
              <a:cs typeface="Comfortaa"/>
              <a:sym typeface="Comfortaa"/>
            </a:endParaRPr>
          </a:p>
          <a:p>
            <a:pPr marL="1371600" lvl="0" indent="0" algn="l" rtl="0">
              <a:lnSpc>
                <a:spcPct val="135714"/>
              </a:lnSpc>
              <a:spcBef>
                <a:spcPts val="0"/>
              </a:spcBef>
              <a:spcAft>
                <a:spcPts val="0"/>
              </a:spcAft>
              <a:buNone/>
            </a:pPr>
            <a:endParaRPr sz="1600">
              <a:solidFill>
                <a:schemeClr val="lt1"/>
              </a:solidFill>
              <a:latin typeface="Comfortaa"/>
              <a:ea typeface="Comfortaa"/>
              <a:cs typeface="Comfortaa"/>
              <a:sym typeface="Comfortaa"/>
            </a:endParaRPr>
          </a:p>
          <a:p>
            <a:pPr marL="1371600" lvl="0" indent="-330200" algn="l" rtl="0">
              <a:lnSpc>
                <a:spcPct val="135714"/>
              </a:lnSpc>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hausdorff</a:t>
            </a:r>
            <a:endParaRPr sz="1600">
              <a:solidFill>
                <a:schemeClr val="lt1"/>
              </a:solidFill>
              <a:latin typeface="Comfortaa"/>
              <a:ea typeface="Comfortaa"/>
              <a:cs typeface="Comfortaa"/>
              <a:sym typeface="Comfortaa"/>
            </a:endParaRPr>
          </a:p>
          <a:p>
            <a:pPr marL="1371600" lvl="0" indent="0" algn="l" rtl="0">
              <a:lnSpc>
                <a:spcPct val="135714"/>
              </a:lnSpc>
              <a:spcBef>
                <a:spcPts val="0"/>
              </a:spcBef>
              <a:spcAft>
                <a:spcPts val="0"/>
              </a:spcAft>
              <a:buNone/>
            </a:pPr>
            <a:endParaRPr sz="1600">
              <a:solidFill>
                <a:schemeClr val="lt1"/>
              </a:solidFill>
              <a:latin typeface="Comfortaa"/>
              <a:ea typeface="Comfortaa"/>
              <a:cs typeface="Comfortaa"/>
              <a:sym typeface="Comfortaa"/>
            </a:endParaRPr>
          </a:p>
          <a:p>
            <a:pPr marL="1371600" lvl="0" indent="-323850" algn="l" rtl="0">
              <a:lnSpc>
                <a:spcPct val="115000"/>
              </a:lnSpc>
              <a:spcBef>
                <a:spcPts val="1200"/>
              </a:spcBef>
              <a:spcAft>
                <a:spcPts val="0"/>
              </a:spcAft>
              <a:buClr>
                <a:schemeClr val="lt1"/>
              </a:buClr>
              <a:buSzPts val="1500"/>
              <a:buFont typeface="Times New Roman"/>
              <a:buChar char="❖"/>
            </a:pPr>
            <a:r>
              <a:rPr lang="fr" sz="1600">
                <a:solidFill>
                  <a:schemeClr val="lt1"/>
                </a:solidFill>
                <a:latin typeface="Comfortaa"/>
                <a:ea typeface="Comfortaa"/>
                <a:cs typeface="Comfortaa"/>
                <a:sym typeface="Comfortaa"/>
              </a:rPr>
              <a:t>la fonction DBSCAN du package Python "sklearn.cluster"</a:t>
            </a:r>
            <a:endParaRPr sz="1600">
              <a:solidFill>
                <a:schemeClr val="lt1"/>
              </a:solidFill>
              <a:latin typeface="Comfortaa"/>
              <a:ea typeface="Comfortaa"/>
              <a:cs typeface="Comfortaa"/>
              <a:sym typeface="Comfortaa"/>
            </a:endParaRPr>
          </a:p>
          <a:p>
            <a:pPr marL="137160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0" lvl="0" indent="0" algn="l" rtl="0">
              <a:lnSpc>
                <a:spcPct val="115000"/>
              </a:lnSpc>
              <a:spcBef>
                <a:spcPts val="1200"/>
              </a:spcBef>
              <a:spcAft>
                <a:spcPts val="0"/>
              </a:spcAft>
              <a:buNone/>
            </a:pPr>
            <a:endParaRPr sz="1600">
              <a:solidFill>
                <a:schemeClr val="lt1"/>
              </a:solidFill>
              <a:latin typeface="Comfortaa"/>
              <a:ea typeface="Comfortaa"/>
              <a:cs typeface="Comfortaa"/>
              <a:sym typeface="Comfortaa"/>
            </a:endParaRPr>
          </a:p>
          <a:p>
            <a:pPr marL="1371600" lvl="0" indent="0" algn="l" rtl="0">
              <a:lnSpc>
                <a:spcPct val="115000"/>
              </a:lnSpc>
              <a:spcBef>
                <a:spcPts val="1200"/>
              </a:spcBef>
              <a:spcAft>
                <a:spcPts val="1200"/>
              </a:spcAft>
              <a:buNone/>
            </a:pPr>
            <a:endParaRPr sz="2300" u="sng">
              <a:solidFill>
                <a:schemeClr val="lt1"/>
              </a:solidFill>
              <a:latin typeface="Comfortaa"/>
              <a:ea typeface="Comfortaa"/>
              <a:cs typeface="Comfortaa"/>
              <a:sym typeface="Comfortaa"/>
            </a:endParaRPr>
          </a:p>
        </p:txBody>
      </p:sp>
      <p:sp>
        <p:nvSpPr>
          <p:cNvPr id="588" name="Google Shape;588;p3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592"/>
        <p:cNvGrpSpPr/>
        <p:nvPr/>
      </p:nvGrpSpPr>
      <p:grpSpPr>
        <a:xfrm>
          <a:off x="0" y="0"/>
          <a:ext cx="0" cy="0"/>
          <a:chOff x="0" y="0"/>
          <a:chExt cx="0" cy="0"/>
        </a:xfrm>
      </p:grpSpPr>
      <p:sp>
        <p:nvSpPr>
          <p:cNvPr id="593" name="Google Shape;593;p40"/>
          <p:cNvSpPr/>
          <p:nvPr/>
        </p:nvSpPr>
        <p:spPr>
          <a:xfrm rot="-672206">
            <a:off x="7292943" y="-273078"/>
            <a:ext cx="2909923" cy="2539942"/>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594" name="Google Shape;594;p40"/>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595" name="Google Shape;595;p40"/>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96" name="Google Shape;596;p40"/>
          <p:cNvSpPr txBox="1"/>
          <p:nvPr/>
        </p:nvSpPr>
        <p:spPr>
          <a:xfrm>
            <a:off x="332550" y="788200"/>
            <a:ext cx="7372500" cy="3528000"/>
          </a:xfrm>
          <a:prstGeom prst="rect">
            <a:avLst/>
          </a:prstGeom>
          <a:noFill/>
          <a:ln>
            <a:noFill/>
          </a:ln>
        </p:spPr>
        <p:txBody>
          <a:bodyPr spcFirstLastPara="1" wrap="square" lIns="91425" tIns="91425" rIns="91425" bIns="91425" anchor="t" anchorCtr="0">
            <a:noAutofit/>
          </a:bodyPr>
          <a:lstStyle/>
          <a:p>
            <a:pPr marL="0" lvl="0" indent="-228600" algn="l" rtl="0">
              <a:lnSpc>
                <a:spcPct val="115000"/>
              </a:lnSpc>
              <a:spcBef>
                <a:spcPts val="1200"/>
              </a:spcBef>
              <a:spcAft>
                <a:spcPts val="0"/>
              </a:spcAft>
              <a:buNone/>
            </a:pPr>
            <a:r>
              <a:rPr lang="fr" sz="2100" b="1" u="sng">
                <a:solidFill>
                  <a:srgbClr val="FF9900"/>
                </a:solidFill>
                <a:latin typeface="Comfortaa"/>
                <a:ea typeface="Comfortaa"/>
                <a:cs typeface="Comfortaa"/>
                <a:sym typeface="Comfortaa"/>
              </a:rPr>
              <a:t>   Données : </a:t>
            </a:r>
            <a:endParaRPr sz="2100" b="1" u="sng">
              <a:solidFill>
                <a:srgbClr val="FF9900"/>
              </a:solidFill>
              <a:latin typeface="Comfortaa"/>
              <a:ea typeface="Comfortaa"/>
              <a:cs typeface="Comfortaa"/>
              <a:sym typeface="Comfortaa"/>
            </a:endParaRPr>
          </a:p>
          <a:p>
            <a:pPr marL="0" lvl="0" indent="-228600" algn="l" rtl="0">
              <a:lnSpc>
                <a:spcPct val="115000"/>
              </a:lnSpc>
              <a:spcBef>
                <a:spcPts val="1200"/>
              </a:spcBef>
              <a:spcAft>
                <a:spcPts val="0"/>
              </a:spcAft>
              <a:buNone/>
            </a:pPr>
            <a:endParaRPr sz="2100" b="1" u="sng">
              <a:solidFill>
                <a:srgbClr val="FF9900"/>
              </a:solidFill>
              <a:latin typeface="Comfortaa"/>
              <a:ea typeface="Comfortaa"/>
              <a:cs typeface="Comfortaa"/>
              <a:sym typeface="Comfortaa"/>
            </a:endParaRPr>
          </a:p>
          <a:p>
            <a:pPr marL="457200" lvl="0" indent="-330200" algn="l" rtl="0">
              <a:lnSpc>
                <a:spcPct val="115000"/>
              </a:lnSpc>
              <a:spcBef>
                <a:spcPts val="120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un échantillon de données contenant les longitude  et les latitudes de 100  taxis pendant le mois février 2008  au sein de Beijing</a:t>
            </a:r>
            <a:endParaRPr sz="1600">
              <a:solidFill>
                <a:schemeClr val="lt1"/>
              </a:solidFill>
              <a:latin typeface="Comfortaa"/>
              <a:ea typeface="Comfortaa"/>
              <a:cs typeface="Comfortaa"/>
              <a:sym typeface="Comfortaa"/>
            </a:endParaRPr>
          </a:p>
          <a:p>
            <a:pPr marL="457200" lvl="0" indent="-330200" algn="l" rtl="0">
              <a:lnSpc>
                <a:spcPct val="115000"/>
              </a:lnSpc>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nous utilisant ensemble de données contient les traces de mobilité des taxis opérant en Chine </a:t>
            </a:r>
            <a:endParaRPr sz="1600">
              <a:solidFill>
                <a:schemeClr val="lt1"/>
              </a:solidFill>
              <a:latin typeface="Comfortaa"/>
              <a:ea typeface="Comfortaa"/>
              <a:cs typeface="Comfortaa"/>
              <a:sym typeface="Comfortaa"/>
            </a:endParaRPr>
          </a:p>
          <a:p>
            <a:pPr marL="457200" lvl="0" indent="-330200" algn="l" rtl="0">
              <a:lnSpc>
                <a:spcPct val="115000"/>
              </a:lnSpc>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il contient de riches informations spatio-temporelles.</a:t>
            </a:r>
            <a:endParaRPr sz="1600">
              <a:solidFill>
                <a:schemeClr val="lt1"/>
              </a:solidFill>
              <a:latin typeface="Comfortaa"/>
              <a:ea typeface="Comfortaa"/>
              <a:cs typeface="Comfortaa"/>
              <a:sym typeface="Comfortaa"/>
            </a:endParaRPr>
          </a:p>
          <a:p>
            <a:pPr marL="457200" marR="38100" lvl="0" indent="-330200" algn="l" rtl="0">
              <a:lnSpc>
                <a:spcPct val="128571"/>
              </a:lnSpc>
              <a:spcBef>
                <a:spcPts val="0"/>
              </a:spcBef>
              <a:spcAft>
                <a:spcPts val="0"/>
              </a:spcAft>
              <a:buClr>
                <a:schemeClr val="lt1"/>
              </a:buClr>
              <a:buSzPts val="1600"/>
              <a:buFont typeface="Comfortaa"/>
              <a:buChar char="-"/>
            </a:pPr>
            <a:r>
              <a:rPr lang="fr" sz="1600">
                <a:solidFill>
                  <a:schemeClr val="lt1"/>
                </a:solidFill>
                <a:latin typeface="Comfortaa"/>
                <a:ea typeface="Comfortaa"/>
                <a:cs typeface="Comfortaa"/>
                <a:sym typeface="Comfortaa"/>
              </a:rPr>
              <a:t>Il contient les coordonnées GPS d'environ 100 taxis collectées sur plusieurs jours.</a:t>
            </a:r>
            <a:endParaRPr sz="1600">
              <a:solidFill>
                <a:schemeClr val="lt1"/>
              </a:solidFill>
              <a:latin typeface="Comfortaa"/>
              <a:ea typeface="Comfortaa"/>
              <a:cs typeface="Comfortaa"/>
              <a:sym typeface="Comfortaa"/>
            </a:endParaRPr>
          </a:p>
          <a:p>
            <a:pPr marL="457200" lvl="0" indent="0" algn="l" rtl="0">
              <a:spcBef>
                <a:spcPts val="0"/>
              </a:spcBef>
              <a:spcAft>
                <a:spcPts val="0"/>
              </a:spcAft>
              <a:buNone/>
            </a:pPr>
            <a:endParaRPr sz="1600">
              <a:solidFill>
                <a:schemeClr val="lt1"/>
              </a:solidFill>
            </a:endParaRPr>
          </a:p>
          <a:p>
            <a:pPr marL="0" lvl="0" indent="-228600" algn="l" rtl="0">
              <a:lnSpc>
                <a:spcPct val="115000"/>
              </a:lnSpc>
              <a:spcBef>
                <a:spcPts val="1200"/>
              </a:spcBef>
              <a:spcAft>
                <a:spcPts val="0"/>
              </a:spcAft>
              <a:buNone/>
            </a:pPr>
            <a:endParaRPr sz="1600">
              <a:solidFill>
                <a:schemeClr val="lt1"/>
              </a:solidFill>
            </a:endParaRPr>
          </a:p>
          <a:p>
            <a:pPr marL="1371600" lvl="0" indent="0" algn="l" rtl="0">
              <a:lnSpc>
                <a:spcPct val="115000"/>
              </a:lnSpc>
              <a:spcBef>
                <a:spcPts val="1200"/>
              </a:spcBef>
              <a:spcAft>
                <a:spcPts val="1200"/>
              </a:spcAft>
              <a:buNone/>
            </a:pPr>
            <a:endParaRPr sz="1600">
              <a:solidFill>
                <a:schemeClr val="lt1"/>
              </a:solidFill>
              <a:latin typeface="Comfortaa"/>
              <a:ea typeface="Comfortaa"/>
              <a:cs typeface="Comfortaa"/>
              <a:sym typeface="Comfortaa"/>
            </a:endParaRPr>
          </a:p>
        </p:txBody>
      </p:sp>
      <p:sp>
        <p:nvSpPr>
          <p:cNvPr id="597" name="Google Shape;597;p4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2A37"/>
        </a:solidFill>
        <a:effectLst/>
      </p:bgPr>
    </p:bg>
    <p:spTree>
      <p:nvGrpSpPr>
        <p:cNvPr id="1" name="Shape 601"/>
        <p:cNvGrpSpPr/>
        <p:nvPr/>
      </p:nvGrpSpPr>
      <p:grpSpPr>
        <a:xfrm>
          <a:off x="0" y="0"/>
          <a:ext cx="0" cy="0"/>
          <a:chOff x="0" y="0"/>
          <a:chExt cx="0" cy="0"/>
        </a:xfrm>
      </p:grpSpPr>
      <p:sp>
        <p:nvSpPr>
          <p:cNvPr id="602" name="Google Shape;602;p41"/>
          <p:cNvSpPr/>
          <p:nvPr/>
        </p:nvSpPr>
        <p:spPr>
          <a:xfrm>
            <a:off x="-668396" y="1624181"/>
            <a:ext cx="4412654" cy="4114800"/>
          </a:xfrm>
          <a:custGeom>
            <a:avLst/>
            <a:gdLst/>
            <a:ahLst/>
            <a:cxnLst/>
            <a:rect l="l" t="t" r="r" b="b"/>
            <a:pathLst>
              <a:path w="8825308" h="8229600" extrusionOk="0">
                <a:moveTo>
                  <a:pt x="0" y="0"/>
                </a:moveTo>
                <a:lnTo>
                  <a:pt x="8825308" y="0"/>
                </a:lnTo>
                <a:lnTo>
                  <a:pt x="8825308" y="8229600"/>
                </a:lnTo>
                <a:lnTo>
                  <a:pt x="0" y="8229600"/>
                </a:lnTo>
                <a:lnTo>
                  <a:pt x="0" y="0"/>
                </a:lnTo>
                <a:close/>
              </a:path>
            </a:pathLst>
          </a:custGeom>
          <a:blipFill rotWithShape="1">
            <a:blip r:embed="rId3">
              <a:alphaModFix/>
            </a:blip>
            <a:stretch>
              <a:fillRect/>
            </a:stretch>
          </a:blipFill>
          <a:ln>
            <a:noFill/>
          </a:ln>
        </p:spPr>
        <p:txBody>
          <a:bodyPr/>
          <a:lstStyle/>
          <a:p>
            <a:endParaRPr lang="fr-FR"/>
          </a:p>
        </p:txBody>
      </p:sp>
      <p:sp>
        <p:nvSpPr>
          <p:cNvPr id="603" name="Google Shape;603;p41"/>
          <p:cNvSpPr/>
          <p:nvPr/>
        </p:nvSpPr>
        <p:spPr>
          <a:xfrm rot="-2906260">
            <a:off x="-629666" y="-1456040"/>
            <a:ext cx="5461904" cy="4772339"/>
          </a:xfrm>
          <a:custGeom>
            <a:avLst/>
            <a:gdLst/>
            <a:ahLst/>
            <a:cxnLst/>
            <a:rect l="l" t="t" r="r" b="b"/>
            <a:pathLst>
              <a:path w="10898092" h="9522208" extrusionOk="0">
                <a:moveTo>
                  <a:pt x="0" y="0"/>
                </a:moveTo>
                <a:lnTo>
                  <a:pt x="10898093" y="0"/>
                </a:lnTo>
                <a:lnTo>
                  <a:pt x="10898093" y="9522208"/>
                </a:lnTo>
                <a:lnTo>
                  <a:pt x="0" y="9522208"/>
                </a:lnTo>
                <a:lnTo>
                  <a:pt x="0" y="0"/>
                </a:lnTo>
                <a:close/>
              </a:path>
            </a:pathLst>
          </a:custGeom>
          <a:blipFill rotWithShape="1">
            <a:blip r:embed="rId4">
              <a:alphaModFix/>
            </a:blip>
            <a:stretch>
              <a:fillRect/>
            </a:stretch>
          </a:blipFill>
          <a:ln>
            <a:noFill/>
          </a:ln>
        </p:spPr>
        <p:txBody>
          <a:bodyPr/>
          <a:lstStyle/>
          <a:p>
            <a:endParaRPr lang="fr-FR"/>
          </a:p>
        </p:txBody>
      </p:sp>
      <p:sp>
        <p:nvSpPr>
          <p:cNvPr id="604" name="Google Shape;604;p41"/>
          <p:cNvSpPr/>
          <p:nvPr/>
        </p:nvSpPr>
        <p:spPr>
          <a:xfrm>
            <a:off x="3590900" y="2270295"/>
            <a:ext cx="3370639" cy="4562624"/>
          </a:xfrm>
          <a:custGeom>
            <a:avLst/>
            <a:gdLst/>
            <a:ahLst/>
            <a:cxnLst/>
            <a:rect l="l" t="t" r="r" b="b"/>
            <a:pathLst>
              <a:path w="6741277" h="9125247" extrusionOk="0">
                <a:moveTo>
                  <a:pt x="0" y="0"/>
                </a:moveTo>
                <a:lnTo>
                  <a:pt x="6741277" y="0"/>
                </a:lnTo>
                <a:lnTo>
                  <a:pt x="6741277" y="9125247"/>
                </a:lnTo>
                <a:lnTo>
                  <a:pt x="0" y="9125247"/>
                </a:lnTo>
                <a:lnTo>
                  <a:pt x="0" y="0"/>
                </a:lnTo>
                <a:close/>
              </a:path>
            </a:pathLst>
          </a:custGeom>
          <a:blipFill rotWithShape="1">
            <a:blip r:embed="rId5">
              <a:alphaModFix/>
            </a:blip>
            <a:stretch>
              <a:fillRect/>
            </a:stretch>
          </a:blipFill>
          <a:ln>
            <a:noFill/>
          </a:ln>
        </p:spPr>
        <p:txBody>
          <a:bodyPr/>
          <a:lstStyle/>
          <a:p>
            <a:endParaRPr lang="fr-FR"/>
          </a:p>
        </p:txBody>
      </p:sp>
      <p:grpSp>
        <p:nvGrpSpPr>
          <p:cNvPr id="605" name="Google Shape;605;p41"/>
          <p:cNvGrpSpPr/>
          <p:nvPr/>
        </p:nvGrpSpPr>
        <p:grpSpPr>
          <a:xfrm>
            <a:off x="4938449" y="2135950"/>
            <a:ext cx="3691236" cy="839153"/>
            <a:chOff x="-1557896" y="274411"/>
            <a:chExt cx="9843296" cy="2237742"/>
          </a:xfrm>
        </p:grpSpPr>
        <p:sp>
          <p:nvSpPr>
            <p:cNvPr id="606" name="Google Shape;606;p41"/>
            <p:cNvSpPr txBox="1"/>
            <p:nvPr/>
          </p:nvSpPr>
          <p:spPr>
            <a:xfrm>
              <a:off x="-1557896" y="274411"/>
              <a:ext cx="9843000" cy="1723800"/>
            </a:xfrm>
            <a:prstGeom prst="rect">
              <a:avLst/>
            </a:prstGeom>
            <a:noFill/>
            <a:ln>
              <a:noFill/>
            </a:ln>
          </p:spPr>
          <p:txBody>
            <a:bodyPr spcFirstLastPara="1" wrap="square" lIns="0" tIns="0" rIns="0" bIns="0" anchor="t" anchorCtr="0">
              <a:spAutoFit/>
            </a:bodyPr>
            <a:lstStyle/>
            <a:p>
              <a:pPr marL="0" marR="0" lvl="0" indent="0" algn="l" rtl="0">
                <a:lnSpc>
                  <a:spcPct val="120002"/>
                </a:lnSpc>
                <a:spcBef>
                  <a:spcPts val="0"/>
                </a:spcBef>
                <a:spcAft>
                  <a:spcPts val="0"/>
                </a:spcAft>
                <a:buNone/>
              </a:pPr>
              <a:r>
                <a:rPr lang="fr" sz="4200">
                  <a:solidFill>
                    <a:schemeClr val="lt1"/>
                  </a:solidFill>
                  <a:latin typeface="Share Tech"/>
                  <a:ea typeface="Share Tech"/>
                  <a:cs typeface="Share Tech"/>
                  <a:sym typeface="Share Tech"/>
                </a:rPr>
                <a:t>05- </a:t>
              </a:r>
              <a:r>
                <a:rPr lang="fr" sz="4200" b="1">
                  <a:solidFill>
                    <a:srgbClr val="FFFFFF"/>
                  </a:solidFill>
                  <a:latin typeface="Forum"/>
                  <a:ea typeface="Forum"/>
                  <a:cs typeface="Forum"/>
                  <a:sym typeface="Forum"/>
                </a:rPr>
                <a:t>Conclusion</a:t>
              </a:r>
              <a:endParaRPr sz="1500" b="1"/>
            </a:p>
          </p:txBody>
        </p:sp>
        <p:sp>
          <p:nvSpPr>
            <p:cNvPr id="607" name="Google Shape;607;p41"/>
            <p:cNvSpPr txBox="1"/>
            <p:nvPr/>
          </p:nvSpPr>
          <p:spPr>
            <a:xfrm>
              <a:off x="0" y="2224753"/>
              <a:ext cx="8285400" cy="287400"/>
            </a:xfrm>
            <a:prstGeom prst="rect">
              <a:avLst/>
            </a:prstGeom>
            <a:noFill/>
            <a:ln>
              <a:noFill/>
            </a:ln>
          </p:spPr>
          <p:txBody>
            <a:bodyPr spcFirstLastPara="1" wrap="square" lIns="0" tIns="0" rIns="0" bIns="0" anchor="t" anchorCtr="0">
              <a:spAutoFit/>
            </a:bodyPr>
            <a:lstStyle/>
            <a:p>
              <a:pPr marL="0" marR="0" lvl="0" indent="0" algn="l" rtl="0">
                <a:lnSpc>
                  <a:spcPct val="130011"/>
                </a:lnSpc>
                <a:spcBef>
                  <a:spcPts val="0"/>
                </a:spcBef>
                <a:spcAft>
                  <a:spcPts val="0"/>
                </a:spcAft>
                <a:buNone/>
              </a:pPr>
              <a:endParaRPr sz="700"/>
            </a:p>
          </p:txBody>
        </p:sp>
      </p:grpSp>
      <p:sp>
        <p:nvSpPr>
          <p:cNvPr id="608" name="Google Shape;608;p41"/>
          <p:cNvSpPr txBox="1"/>
          <p:nvPr/>
        </p:nvSpPr>
        <p:spPr>
          <a:xfrm>
            <a:off x="4445650" y="2217550"/>
            <a:ext cx="2789700" cy="57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200">
              <a:solidFill>
                <a:schemeClr val="lt1"/>
              </a:solidFill>
              <a:latin typeface="Share Tech"/>
              <a:ea typeface="Share Tech"/>
              <a:cs typeface="Share Tech"/>
              <a:sym typeface="Share Tech"/>
            </a:endParaRPr>
          </a:p>
        </p:txBody>
      </p:sp>
      <p:sp>
        <p:nvSpPr>
          <p:cNvPr id="609" name="Google Shape;609;p4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613"/>
        <p:cNvGrpSpPr/>
        <p:nvPr/>
      </p:nvGrpSpPr>
      <p:grpSpPr>
        <a:xfrm>
          <a:off x="0" y="0"/>
          <a:ext cx="0" cy="0"/>
          <a:chOff x="0" y="0"/>
          <a:chExt cx="0" cy="0"/>
        </a:xfrm>
      </p:grpSpPr>
      <p:sp>
        <p:nvSpPr>
          <p:cNvPr id="614" name="Google Shape;614;p42"/>
          <p:cNvSpPr/>
          <p:nvPr/>
        </p:nvSpPr>
        <p:spPr>
          <a:xfrm rot="-672206">
            <a:off x="7292943" y="-273078"/>
            <a:ext cx="2909923" cy="2539942"/>
          </a:xfrm>
          <a:custGeom>
            <a:avLst/>
            <a:gdLst/>
            <a:ahLst/>
            <a:cxnLst/>
            <a:rect l="l" t="t" r="r" b="b"/>
            <a:pathLst>
              <a:path w="5515885" h="4957401" extrusionOk="0">
                <a:moveTo>
                  <a:pt x="0" y="0"/>
                </a:moveTo>
                <a:lnTo>
                  <a:pt x="5515884" y="0"/>
                </a:lnTo>
                <a:lnTo>
                  <a:pt x="5515884" y="4957402"/>
                </a:lnTo>
                <a:lnTo>
                  <a:pt x="0" y="4957402"/>
                </a:lnTo>
                <a:lnTo>
                  <a:pt x="0" y="0"/>
                </a:lnTo>
                <a:close/>
              </a:path>
            </a:pathLst>
          </a:custGeom>
          <a:blipFill rotWithShape="1">
            <a:blip r:embed="rId3">
              <a:alphaModFix/>
            </a:blip>
            <a:stretch>
              <a:fillRect/>
            </a:stretch>
          </a:blipFill>
          <a:ln>
            <a:noFill/>
          </a:ln>
        </p:spPr>
        <p:txBody>
          <a:bodyPr/>
          <a:lstStyle/>
          <a:p>
            <a:endParaRPr lang="fr-FR"/>
          </a:p>
        </p:txBody>
      </p:sp>
      <p:sp>
        <p:nvSpPr>
          <p:cNvPr id="615" name="Google Shape;615;p42"/>
          <p:cNvSpPr txBox="1"/>
          <p:nvPr/>
        </p:nvSpPr>
        <p:spPr>
          <a:xfrm>
            <a:off x="898571" y="2848873"/>
            <a:ext cx="3744000" cy="107700"/>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sz="700"/>
          </a:p>
        </p:txBody>
      </p:sp>
      <p:sp>
        <p:nvSpPr>
          <p:cNvPr id="616" name="Google Shape;616;p42"/>
          <p:cNvSpPr txBox="1"/>
          <p:nvPr/>
        </p:nvSpPr>
        <p:spPr>
          <a:xfrm>
            <a:off x="898575" y="1026975"/>
            <a:ext cx="5364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617" name="Google Shape;617;p42"/>
          <p:cNvSpPr txBox="1"/>
          <p:nvPr/>
        </p:nvSpPr>
        <p:spPr>
          <a:xfrm>
            <a:off x="1139350" y="1522425"/>
            <a:ext cx="6663900" cy="27606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1200"/>
              </a:spcAft>
              <a:buNone/>
            </a:pPr>
            <a:r>
              <a:rPr lang="fr" sz="1600">
                <a:solidFill>
                  <a:schemeClr val="lt1"/>
                </a:solidFill>
                <a:latin typeface="Comfortaa"/>
                <a:ea typeface="Comfortaa"/>
                <a:cs typeface="Comfortaa"/>
                <a:sym typeface="Comfortaa"/>
              </a:rPr>
              <a:t>En résumé, le choix de la mesure de similarité et la configuration appropriée des paramètres sont des aspects essentiels lors de l'utilisation de DBSCAN. Il est recommandé d'expérimenter avec différentes mesures et paramètres pour trouver la combinaison optimale en fonction des caractéristiques spécifiques des données. </a:t>
            </a:r>
            <a:endParaRPr sz="1600">
              <a:solidFill>
                <a:schemeClr val="lt1"/>
              </a:solidFill>
              <a:latin typeface="Comfortaa"/>
              <a:ea typeface="Comfortaa"/>
              <a:cs typeface="Comfortaa"/>
              <a:sym typeface="Comfortaa"/>
            </a:endParaRPr>
          </a:p>
        </p:txBody>
      </p:sp>
      <p:sp>
        <p:nvSpPr>
          <p:cNvPr id="618" name="Google Shape;618;p4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D7692"/>
        </a:solidFill>
        <a:effectLst/>
      </p:bgPr>
    </p:bg>
    <p:spTree>
      <p:nvGrpSpPr>
        <p:cNvPr id="1" name="Shape 622"/>
        <p:cNvGrpSpPr/>
        <p:nvPr/>
      </p:nvGrpSpPr>
      <p:grpSpPr>
        <a:xfrm>
          <a:off x="0" y="0"/>
          <a:ext cx="0" cy="0"/>
          <a:chOff x="0" y="0"/>
          <a:chExt cx="0" cy="0"/>
        </a:xfrm>
      </p:grpSpPr>
      <p:sp>
        <p:nvSpPr>
          <p:cNvPr id="623" name="Google Shape;623;p43"/>
          <p:cNvSpPr/>
          <p:nvPr/>
        </p:nvSpPr>
        <p:spPr>
          <a:xfrm rot="10314521">
            <a:off x="-415575" y="-2852788"/>
            <a:ext cx="3836016" cy="6237424"/>
          </a:xfrm>
          <a:custGeom>
            <a:avLst/>
            <a:gdLst/>
            <a:ahLst/>
            <a:cxnLst/>
            <a:rect l="l" t="t" r="r" b="b"/>
            <a:pathLst>
              <a:path w="7672032" h="12474848" extrusionOk="0">
                <a:moveTo>
                  <a:pt x="0" y="0"/>
                </a:moveTo>
                <a:lnTo>
                  <a:pt x="7672032" y="0"/>
                </a:lnTo>
                <a:lnTo>
                  <a:pt x="7672032" y="12474849"/>
                </a:lnTo>
                <a:lnTo>
                  <a:pt x="0" y="12474849"/>
                </a:lnTo>
                <a:lnTo>
                  <a:pt x="0" y="0"/>
                </a:lnTo>
                <a:close/>
              </a:path>
            </a:pathLst>
          </a:custGeom>
          <a:blipFill rotWithShape="1">
            <a:blip r:embed="rId3">
              <a:alphaModFix/>
            </a:blip>
            <a:stretch>
              <a:fillRect/>
            </a:stretch>
          </a:blipFill>
          <a:ln>
            <a:noFill/>
          </a:ln>
        </p:spPr>
        <p:txBody>
          <a:bodyPr/>
          <a:lstStyle/>
          <a:p>
            <a:endParaRPr lang="fr-FR"/>
          </a:p>
        </p:txBody>
      </p:sp>
      <p:sp>
        <p:nvSpPr>
          <p:cNvPr id="624" name="Google Shape;624;p43"/>
          <p:cNvSpPr/>
          <p:nvPr/>
        </p:nvSpPr>
        <p:spPr>
          <a:xfrm rot="-3683252">
            <a:off x="-1436731" y="1357066"/>
            <a:ext cx="3902162" cy="4112951"/>
          </a:xfrm>
          <a:custGeom>
            <a:avLst/>
            <a:gdLst/>
            <a:ahLst/>
            <a:cxnLst/>
            <a:rect l="l" t="t" r="r" b="b"/>
            <a:pathLst>
              <a:path w="7804324" h="8225902" extrusionOk="0">
                <a:moveTo>
                  <a:pt x="0" y="0"/>
                </a:moveTo>
                <a:lnTo>
                  <a:pt x="7804324" y="0"/>
                </a:lnTo>
                <a:lnTo>
                  <a:pt x="7804324" y="8225902"/>
                </a:lnTo>
                <a:lnTo>
                  <a:pt x="0" y="8225902"/>
                </a:lnTo>
                <a:lnTo>
                  <a:pt x="0" y="0"/>
                </a:lnTo>
                <a:close/>
              </a:path>
            </a:pathLst>
          </a:custGeom>
          <a:blipFill rotWithShape="1">
            <a:blip r:embed="rId4">
              <a:alphaModFix/>
            </a:blip>
            <a:stretch>
              <a:fillRect/>
            </a:stretch>
          </a:blipFill>
          <a:ln>
            <a:noFill/>
          </a:ln>
        </p:spPr>
        <p:txBody>
          <a:bodyPr/>
          <a:lstStyle/>
          <a:p>
            <a:endParaRPr lang="fr-FR"/>
          </a:p>
        </p:txBody>
      </p:sp>
      <p:sp>
        <p:nvSpPr>
          <p:cNvPr id="625" name="Google Shape;625;p43"/>
          <p:cNvSpPr/>
          <p:nvPr/>
        </p:nvSpPr>
        <p:spPr>
          <a:xfrm>
            <a:off x="2806822" y="-758860"/>
            <a:ext cx="3245730" cy="2949557"/>
          </a:xfrm>
          <a:custGeom>
            <a:avLst/>
            <a:gdLst/>
            <a:ahLst/>
            <a:cxnLst/>
            <a:rect l="l" t="t" r="r" b="b"/>
            <a:pathLst>
              <a:path w="6491459" h="5899113" extrusionOk="0">
                <a:moveTo>
                  <a:pt x="0" y="0"/>
                </a:moveTo>
                <a:lnTo>
                  <a:pt x="6491458" y="0"/>
                </a:lnTo>
                <a:lnTo>
                  <a:pt x="6491458" y="5899113"/>
                </a:lnTo>
                <a:lnTo>
                  <a:pt x="0" y="5899113"/>
                </a:lnTo>
                <a:lnTo>
                  <a:pt x="0" y="0"/>
                </a:lnTo>
                <a:close/>
              </a:path>
            </a:pathLst>
          </a:custGeom>
          <a:blipFill rotWithShape="1">
            <a:blip r:embed="rId5">
              <a:alphaModFix/>
            </a:blip>
            <a:stretch>
              <a:fillRect/>
            </a:stretch>
          </a:blipFill>
          <a:ln>
            <a:noFill/>
          </a:ln>
        </p:spPr>
        <p:txBody>
          <a:bodyPr/>
          <a:lstStyle/>
          <a:p>
            <a:endParaRPr lang="fr-FR"/>
          </a:p>
        </p:txBody>
      </p:sp>
      <p:sp>
        <p:nvSpPr>
          <p:cNvPr id="626" name="Google Shape;626;p43"/>
          <p:cNvSpPr txBox="1"/>
          <p:nvPr/>
        </p:nvSpPr>
        <p:spPr>
          <a:xfrm>
            <a:off x="3017907" y="2399024"/>
            <a:ext cx="5513700" cy="1772793"/>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fr" sz="4800" b="0" i="0" u="none" strike="noStrike" cap="none">
                <a:solidFill>
                  <a:srgbClr val="FFFFFF"/>
                </a:solidFill>
                <a:latin typeface="Forum"/>
                <a:ea typeface="Forum"/>
                <a:cs typeface="Forum"/>
                <a:sym typeface="Forum"/>
              </a:rPr>
              <a:t>MERCI</a:t>
            </a:r>
            <a:r>
              <a:rPr lang="fr" sz="4800">
                <a:solidFill>
                  <a:srgbClr val="FFFFFF"/>
                </a:solidFill>
                <a:latin typeface="Forum"/>
                <a:ea typeface="Forum"/>
                <a:cs typeface="Forum"/>
                <a:sym typeface="Forum"/>
              </a:rPr>
              <a:t> DE VOTRE ATTENTION </a:t>
            </a:r>
            <a:r>
              <a:rPr lang="fr" sz="4800" b="0" i="0" u="none" strike="noStrike" cap="none">
                <a:solidFill>
                  <a:srgbClr val="FFFFFF"/>
                </a:solidFill>
                <a:latin typeface="Forum"/>
                <a:ea typeface="Forum"/>
                <a:cs typeface="Forum"/>
                <a:sym typeface="Forum"/>
              </a:rPr>
              <a:t> !</a:t>
            </a:r>
            <a:endParaRPr sz="700" dirty="0"/>
          </a:p>
        </p:txBody>
      </p:sp>
      <p:sp>
        <p:nvSpPr>
          <p:cNvPr id="627" name="Google Shape;627;p4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31</a:t>
            </a:fld>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1046</Words>
  <Application>Microsoft Office PowerPoint</Application>
  <PresentationFormat>Affichage à l'écran (16:9)</PresentationFormat>
  <Paragraphs>231</Paragraphs>
  <Slides>31</Slides>
  <Notes>31</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31</vt:i4>
      </vt:variant>
    </vt:vector>
  </HeadingPairs>
  <TitlesOfParts>
    <vt:vector size="42" baseType="lpstr">
      <vt:lpstr>Maven Pro</vt:lpstr>
      <vt:lpstr>Comfortaa</vt:lpstr>
      <vt:lpstr>Arial</vt:lpstr>
      <vt:lpstr>Times New Roman</vt:lpstr>
      <vt:lpstr>Nunito</vt:lpstr>
      <vt:lpstr>Roboto</vt:lpstr>
      <vt:lpstr>Forum</vt:lpstr>
      <vt:lpstr>Calibri</vt:lpstr>
      <vt:lpstr>Share Tech</vt:lpstr>
      <vt:lpstr>Comic Sans MS</vt:lpstr>
      <vt:lpstr>Momentum</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Oussama Bouhali</cp:lastModifiedBy>
  <cp:revision>1</cp:revision>
  <dcterms:modified xsi:type="dcterms:W3CDTF">2026-09-17T12:09:29Z</dcterms:modified>
</cp:coreProperties>
</file>